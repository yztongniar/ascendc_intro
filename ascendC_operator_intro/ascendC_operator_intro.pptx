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资料来源：《从零构建FA算子》课程资料整理；昇腾 CANN《Ascend C算子开发指南》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Ascend C 算子开发全景：从硬件架构到算子落地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开发链路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：接口与原型定义（Host）→ Tiling 切分（Host/CPU）→ Kernel 实现（Device/AI Core）→ 调测验证，四环节环环相扣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硬件基础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：Ascend 1920 集成 24 个 AI Core，每核由搬运单元（MTE）、存储单元（L1/L0/UB）、计算单元（Cube/Vector/Scalar）组成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算子分类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：按计算单元分为 Cube 算子、Vector 算子、Mix 融合算子；FlashAttention（FA）属 Mix 融合算子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核心方法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：Kernel 依据 Tiling Key + Tiling Data 完成高性能计算，SPMD 多核并行 + 搬运/计算流水线重叠</a:t>
            </a:r>
            <a:endParaRPr lang="en-US" sz="900" noProof="1"/>
          </a:p>
        </p:txBody>
      </p:sp>
      <p:sp>
        <p:nvSpPr>
          <p:cNvPr id="8" name="flow-label"/>
          <p:cNvSpPr txBox="1"/>
          <p:nvPr/>
        </p:nvSpPr>
        <p:spPr>
          <a:xfrm>
            <a:off x="5588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算子开发链路（Host → Device）</a:t>
            </a:r>
            <a:endParaRPr lang="en-US" sz="1200" noProof="1"/>
          </a:p>
        </p:txBody>
      </p:sp>
      <p:sp>
        <p:nvSpPr>
          <p:cNvPr id="9" name="host-band"/>
          <p:cNvSpPr/>
          <p:nvPr/>
        </p:nvSpPr>
        <p:spPr>
          <a:xfrm>
            <a:off x="711200" y="2616200"/>
            <a:ext cx="5029200" cy="15240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6350">
            <a:solidFill>
              <a:srgbClr val="737373"/>
            </a:solidFill>
            <a:prstDash val="dash"/>
          </a:ln>
        </p:spPr>
      </p:sp>
      <p:sp>
        <p:nvSpPr>
          <p:cNvPr id="10" name="host-band-label"/>
          <p:cNvSpPr txBox="1"/>
          <p:nvPr/>
        </p:nvSpPr>
        <p:spPr>
          <a:xfrm>
            <a:off x="838200" y="26670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650" noProof="1" b="1">
                <a:solidFill>
                  <a:srgbClr val="737373"/>
                </a:solidFill>
                <a:latin typeface="微软雅黑"/>
                <a:ea typeface="微软雅黑"/>
              </a:rPr>
              <a:t>Host 侧（CPU）</a:t>
            </a:r>
            <a:endParaRPr lang="en-US" sz="650" noProof="1"/>
          </a:p>
        </p:txBody>
      </p:sp>
      <p:sp>
        <p:nvSpPr>
          <p:cNvPr id="11" name="flow-box1"/>
          <p:cNvSpPr/>
          <p:nvPr/>
        </p:nvSpPr>
        <p:spPr>
          <a:xfrm>
            <a:off x="1905000" y="2870200"/>
            <a:ext cx="3048000" cy="482600"/>
          </a:xfrm>
          <a:prstGeom prst="roundRect">
            <a:avLst>
              <a:gd name="adj" fmla="val 12000"/>
            </a:avLst>
          </a:prstGeom>
          <a:solidFill>
            <a:srgbClr val="C8DCF4"/>
          </a:solidFill>
          <a:ln w="6350">
            <a:solidFill>
              <a:srgbClr val="1B1B1E"/>
            </a:solidFill>
          </a:ln>
        </p:spPr>
      </p:sp>
      <p:sp>
        <p:nvSpPr>
          <p:cNvPr id="12" name="flow-box1-text"/>
          <p:cNvSpPr txBox="1"/>
          <p:nvPr/>
        </p:nvSpPr>
        <p:spPr>
          <a:xfrm>
            <a:off x="1905000" y="2870200"/>
            <a:ext cx="304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① 接口与原型定义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404040"/>
                </a:solidFill>
                <a:latin typeface="微软雅黑"/>
                <a:ea typeface="微软雅黑"/>
              </a:rPr>
              <a:t>PyTorch / C++ 接口、算子原型与信息库配置</a:t>
            </a:r>
            <a:endParaRPr lang="en-US" sz="1600" noProof="1"/>
          </a:p>
        </p:txBody>
      </p:sp>
      <p:sp>
        <p:nvSpPr>
          <p:cNvPr id="13" name="flow-arrow1"/>
          <p:cNvSpPr/>
          <p:nvPr>
            <p:extLst>
              <p:ext uri="{F5677B7D-0D2A-4D9B-9A5C-6D8D7D0E5A5D}">
                <pptd:line encoding="base64url">eyJ2aWV3Qm94IjpbMiwxMl0sInBvaW50cyI6IjEsMSAxLDExIiwiY3VydmUiOiJzaGFycCJ9</pptd:line>
              </p:ext>
            </p:extLst>
          </p:nvPr>
        </p:nvSpPr>
        <p:spPr>
          <a:xfrm>
            <a:off x="3416300" y="3352800"/>
            <a:ext cx="25400" cy="152400"/>
          </a:xfrm>
          <a:custGeom>
            <a:avLst/>
            <a:gdLst/>
            <a:ahLst/>
            <a:cxnLst/>
            <a:rect l="l" t="t" r="r" b="b"/>
            <a:pathLst>
              <a:path w="2" h="12">
                <a:moveTo>
                  <a:pt x="1" y="1"/>
                </a:moveTo>
                <a:lnTo>
                  <a:pt x="1" y="11"/>
                </a:lnTo>
              </a:path>
            </a:pathLst>
          </a:custGeom>
          <a:noFill/>
          <a:ln w="12700">
            <a:solidFill>
              <a:srgbClr val="1B1B1E"/>
            </a:solidFill>
            <a:tailEnd type="arrow"/>
          </a:ln>
        </p:spPr>
      </p:sp>
      <p:sp>
        <p:nvSpPr>
          <p:cNvPr id="14" name="flow-box2"/>
          <p:cNvSpPr/>
          <p:nvPr/>
        </p:nvSpPr>
        <p:spPr>
          <a:xfrm>
            <a:off x="1905000" y="3505200"/>
            <a:ext cx="3048000" cy="482600"/>
          </a:xfrm>
          <a:prstGeom prst="roundRect">
            <a:avLst>
              <a:gd name="adj" fmla="val 12000"/>
            </a:avLst>
          </a:prstGeom>
          <a:solidFill>
            <a:srgbClr val="CBE6CF"/>
          </a:solidFill>
          <a:ln w="6350">
            <a:solidFill>
              <a:srgbClr val="1B1B1E"/>
            </a:solidFill>
          </a:ln>
        </p:spPr>
      </p:sp>
      <p:sp>
        <p:nvSpPr>
          <p:cNvPr id="15" name="flow-box2-text"/>
          <p:cNvSpPr txBox="1"/>
          <p:nvPr/>
        </p:nvSpPr>
        <p:spPr>
          <a:xfrm>
            <a:off x="1905000" y="3505200"/>
            <a:ext cx="304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② Tiling 侧实现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404040"/>
                </a:solidFill>
                <a:latin typeface="微软雅黑"/>
                <a:ea typeface="微软雅黑"/>
              </a:rPr>
              <a:t>多核切分、负载均衡 → Tiling Key + Tiling Data</a:t>
            </a:r>
            <a:endParaRPr lang="en-US" sz="1600" noProof="1"/>
          </a:p>
        </p:txBody>
      </p:sp>
      <p:sp>
        <p:nvSpPr>
          <p:cNvPr id="16" name="device-band"/>
          <p:cNvSpPr/>
          <p:nvPr/>
        </p:nvSpPr>
        <p:spPr>
          <a:xfrm>
            <a:off x="711200" y="4191000"/>
            <a:ext cx="5029200" cy="812800"/>
          </a:xfrm>
          <a:prstGeom prst="roundRect">
            <a:avLst>
              <a:gd name="adj" fmla="val 8000"/>
            </a:avLst>
          </a:prstGeom>
          <a:solidFill>
            <a:srgbClr val="FDF0EE"/>
          </a:solidFill>
          <a:ln w="6350">
            <a:solidFill>
              <a:srgbClr val="737373"/>
            </a:solidFill>
            <a:prstDash val="dash"/>
          </a:ln>
        </p:spPr>
      </p:sp>
      <p:sp>
        <p:nvSpPr>
          <p:cNvPr id="17" name="device-band-label"/>
          <p:cNvSpPr txBox="1"/>
          <p:nvPr/>
        </p:nvSpPr>
        <p:spPr>
          <a:xfrm>
            <a:off x="838200" y="4241800"/>
            <a:ext cx="177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650" noProof="1" b="1">
                <a:solidFill>
                  <a:srgbClr val="737373"/>
                </a:solidFill>
                <a:latin typeface="微软雅黑"/>
                <a:ea typeface="微软雅黑"/>
              </a:rPr>
              <a:t>Device 侧（AI Core）</a:t>
            </a:r>
            <a:endParaRPr lang="en-US" sz="650" noProof="1"/>
          </a:p>
        </p:txBody>
      </p:sp>
      <p:sp>
        <p:nvSpPr>
          <p:cNvPr id="18" name="flow-arrow2"/>
          <p:cNvSpPr/>
          <p:nvPr>
            <p:extLst>
              <p:ext uri="{F5677B7D-0D2A-4D9B-9A5C-6D8D7D0E5A5D}">
                <pptd:line encoding="base64url">eyJ2aWV3Qm94IjpbMiwzNl0sInBvaW50cyI6IjEsMSAxLDM1IiwiY3VydmUiOiJzaGFycCJ9</pptd:line>
              </p:ext>
            </p:extLst>
          </p:nvPr>
        </p:nvSpPr>
        <p:spPr>
          <a:xfrm>
            <a:off x="3416300" y="3987800"/>
            <a:ext cx="25400" cy="457200"/>
          </a:xfrm>
          <a:custGeom>
            <a:avLst/>
            <a:gdLst/>
            <a:ahLst/>
            <a:cxnLst/>
            <a:rect l="l" t="t" r="r" b="b"/>
            <a:pathLst>
              <a:path w="2" h="36">
                <a:moveTo>
                  <a:pt x="1" y="1"/>
                </a:moveTo>
                <a:lnTo>
                  <a:pt x="1" y="35"/>
                </a:lnTo>
              </a:path>
            </a:pathLst>
          </a:custGeom>
          <a:noFill/>
          <a:ln w="12700">
            <a:solidFill>
              <a:srgbClr val="1B1B1E"/>
            </a:solidFill>
          </a:ln>
        </p:spPr>
      </p:sp>
      <p:sp>
        <p:nvSpPr>
          <p:cNvPr id="19" name="flow-box3"/>
          <p:cNvSpPr/>
          <p:nvPr/>
        </p:nvSpPr>
        <p:spPr>
          <a:xfrm>
            <a:off x="1905000" y="4445000"/>
            <a:ext cx="3048000" cy="482600"/>
          </a:xfrm>
          <a:prstGeom prst="roundRect">
            <a:avLst>
              <a:gd name="adj" fmla="val 12000"/>
            </a:avLst>
          </a:prstGeom>
          <a:solidFill>
            <a:srgbClr val="F6D2CE"/>
          </a:solidFill>
          <a:ln w="6350">
            <a:solidFill>
              <a:srgbClr val="1B1B1E"/>
            </a:solidFill>
          </a:ln>
        </p:spPr>
      </p:sp>
      <p:sp>
        <p:nvSpPr>
          <p:cNvPr id="20" name="flow-box3-text"/>
          <p:cNvSpPr txBox="1"/>
          <p:nvPr/>
        </p:nvSpPr>
        <p:spPr>
          <a:xfrm>
            <a:off x="1905000" y="4445000"/>
            <a:ext cx="304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③ Kernel 侧实现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404040"/>
                </a:solidFill>
                <a:latin typeface="微软雅黑"/>
                <a:ea typeface="微软雅黑"/>
              </a:rPr>
              <a:t>extern "C" 核函数：SPMD 多核、流水线重叠</a:t>
            </a:r>
            <a:endParaRPr lang="en-US" sz="1600" noProof="1"/>
          </a:p>
        </p:txBody>
      </p:sp>
      <p:sp>
        <p:nvSpPr>
          <p:cNvPr id="21" name="flow-arrow3"/>
          <p:cNvSpPr/>
          <p:nvPr>
            <p:extLst>
              <p:ext uri="{F5677B7D-0D2A-4D9B-9A5C-6D8D7D0E5A5D}">
                <pptd:line encoding="base64url">eyJ2aWV3Qm94IjpbMiwxMl0sInBvaW50cyI6IjEsMSAxLDExIiwiY3VydmUiOiJzaGFycCJ9</pptd:line>
              </p:ext>
            </p:extLst>
          </p:nvPr>
        </p:nvSpPr>
        <p:spPr>
          <a:xfrm>
            <a:off x="3416300" y="4927600"/>
            <a:ext cx="25400" cy="152400"/>
          </a:xfrm>
          <a:custGeom>
            <a:avLst/>
            <a:gdLst/>
            <a:ahLst/>
            <a:cxnLst/>
            <a:rect l="l" t="t" r="r" b="b"/>
            <a:pathLst>
              <a:path w="2" h="12">
                <a:moveTo>
                  <a:pt x="1" y="1"/>
                </a:moveTo>
                <a:lnTo>
                  <a:pt x="1" y="11"/>
                </a:lnTo>
              </a:path>
            </a:pathLst>
          </a:custGeom>
          <a:noFill/>
          <a:ln w="12700">
            <a:solidFill>
              <a:srgbClr val="1B1B1E"/>
            </a:solidFill>
          </a:ln>
        </p:spPr>
      </p:sp>
      <p:sp>
        <p:nvSpPr>
          <p:cNvPr id="22" name="flow-box4"/>
          <p:cNvSpPr/>
          <p:nvPr/>
        </p:nvSpPr>
        <p:spPr>
          <a:xfrm>
            <a:off x="1270000" y="5080000"/>
            <a:ext cx="4318000" cy="330200"/>
          </a:xfrm>
          <a:prstGeom prst="roundRect">
            <a:avLst>
              <a:gd name="adj" fmla="val 12000"/>
            </a:avLst>
          </a:prstGeom>
          <a:solidFill>
            <a:srgbClr val="F0F0F4"/>
          </a:solidFill>
          <a:ln w="6350">
            <a:solidFill>
              <a:srgbClr val="1B1B1E"/>
            </a:solidFill>
          </a:ln>
        </p:spPr>
      </p:sp>
      <p:sp>
        <p:nvSpPr>
          <p:cNvPr id="23" name="flow-box4-text"/>
          <p:cNvSpPr txBox="1"/>
          <p:nvPr/>
        </p:nvSpPr>
        <p:spPr>
          <a:xfrm>
            <a:off x="1270000" y="5080000"/>
            <a:ext cx="431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 b="1">
                <a:solidFill>
                  <a:srgbClr val="262626"/>
                </a:solidFill>
                <a:latin typeface="微软雅黑"/>
                <a:ea typeface="微软雅黑"/>
              </a:rPr>
              <a:t>④ 调测验证</a:t>
            </a:r>
            <a:r>
              <a:rPr lang="en-US" sz="650" noProof="1">
                <a:solidFill>
                  <a:srgbClr val="404040"/>
                </a:solidFill>
                <a:latin typeface="微软雅黑"/>
                <a:ea typeface="微软雅黑"/>
              </a:rPr>
              <a:t>：Debug Tools / mskpp / Aclnn Fuzz（Host + Device 联调）</a:t>
            </a:r>
            <a:endParaRPr lang="en-US" sz="1600" noProof="1"/>
          </a:p>
        </p:txBody>
      </p:sp>
      <p:sp>
        <p:nvSpPr>
          <p:cNvPr id="24" name="param-label"/>
          <p:cNvSpPr txBox="1"/>
          <p:nvPr/>
        </p:nvSpPr>
        <p:spPr>
          <a:xfrm>
            <a:off x="6197600" y="2286000"/>
            <a:ext cx="4318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四环节：运行位置、产物与关注点</a:t>
            </a:r>
            <a:endParaRPr lang="en-US" sz="1200" noProof="1"/>
          </a:p>
        </p:txBody>
      </p:sp>
      <p:graphicFrame>
        <p:nvGraphicFramePr>
          <p:cNvPr id="25" name="param-table"/>
          <p:cNvGraphicFramePr>
            <a:graphicFrameLocks noGrp="1"/>
          </p:cNvGraphicFramePr>
          <p:nvPr/>
        </p:nvGraphicFramePr>
        <p:xfrm>
          <a:off x="6197600" y="2641600"/>
          <a:ext cx="5537200" cy="2743200"/>
        </p:xfrm>
        <a:graphic>
          <a:graphicData uri="http://schemas.openxmlformats.org/drawingml/2006/table">
            <a:tbl>
              <a:tblPr/>
              <a:tblGrid>
                <a:gridCol w="885952"/>
                <a:gridCol w="1052068"/>
                <a:gridCol w="1716532"/>
                <a:gridCol w="1882648"/>
              </a:tblGrid>
              <a:tr h="32918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运行位置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关键产物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核心关注点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60350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接口与原型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Host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PyTorch / C++ 接口、原型信息库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接口定义方法、使能方式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60350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Tiling 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Host（CPU）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Tiling Key + Tiling Data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多核切分、核间负载均衡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60350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Kernel 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Device（AI Core）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extern "C" 核函数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SPMD 并行、流水线重叠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60350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调测验证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Host + Device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调试报告、Fuzz 测试结论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精度正确性、性能达标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param-note"/>
          <p:cNvSpPr txBox="1"/>
          <p:nvPr/>
        </p:nvSpPr>
        <p:spPr>
          <a:xfrm>
            <a:off x="6197600" y="5461000"/>
            <a:ext cx="5537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注：全篇以 FlashAttention（FA）算子为贯穿示例；FA 为 Cube + Vector 协同的 Mix 融合算子。</a:t>
            </a:r>
            <a:endParaRPr lang="en-US" sz="750" noProof="1"/>
          </a:p>
        </p:txBody>
      </p:sp>
      <p:sp>
        <p:nvSpPr>
          <p:cNvPr id="27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开发要点与学习路径</a:t>
            </a:r>
            <a:endParaRPr lang="en-US" sz="1200" noProof="1"/>
          </a:p>
        </p:txBody>
      </p:sp>
      <p:sp>
        <p:nvSpPr>
          <p:cNvPr id="28" name="dev-bullets"/>
          <p:cNvSpPr txBox="1"/>
          <p:nvPr/>
        </p:nvSpPr>
        <p:spPr>
          <a:xfrm>
            <a:off x="558800" y="59182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前置知识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：昇腾 NPU 基础、常见算子类型，以及 PyTorch 和 C++ 的数据类型定义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贯穿示例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：以 FlashAttention（FA）为例，走通 接口 → kernel → tiling → 调测 的完整开发链路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课程结构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：① FA 算子接口与原型 ② kernel 侧实现 ③ tiling 侧实现 ④ 调测（Debug Tools / mskpp / Aclnn Fuzz）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补充背景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：AI CPU 承担非矩阵、分支密集型逻辑（shape 推导、复杂控制），FA 不涉及，作体系性了解即可</a:t>
            </a:r>
            <a:endParaRPr lang="en-US" sz="8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资料来源：《从零构建FA算子》课程资料整理 · 第一章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硬件架构：Ascend 1920 与 AI Core 的三类单元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整体规模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：Ascend 1920 为当前主要计算加速核心，集成 24 个 AI Core —— 多核并行是算子性能的基础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核内三类单元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：搬运单元（MTE）、存储单元（L1 / L0 / UB）、计算单元（Cube / Vector / Scalar）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计算分工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：Cube 承担矩阵乘（GEMM）、Vector 承担向量/逐元素计算、Scalar 承担标量与控制逻辑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数据通路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：MTE 在 HBM 与片上存储间搬运数据，Cube / Vector 从片上存储取数计算 → 搬运与计算重叠是性能关键</a:t>
            </a:r>
            <a:endParaRPr lang="en-US" sz="900" noProof="1"/>
          </a:p>
        </p:txBody>
      </p:sp>
      <p:sp>
        <p:nvSpPr>
          <p:cNvPr id="8" name="arch-label"/>
          <p:cNvSpPr txBox="1"/>
          <p:nvPr/>
        </p:nvSpPr>
        <p:spPr>
          <a:xfrm>
            <a:off x="5588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AI Core 核内结构与数据通路</a:t>
            </a:r>
            <a:endParaRPr lang="en-US" sz="1200" noProof="1"/>
          </a:p>
        </p:txBody>
      </p:sp>
      <p:sp>
        <p:nvSpPr>
          <p:cNvPr id="9" name="legend-box1"/>
          <p:cNvSpPr/>
          <p:nvPr/>
        </p:nvSpPr>
        <p:spPr>
          <a:xfrm>
            <a:off x="4191000" y="2324100"/>
            <a:ext cx="127000" cy="127000"/>
          </a:xfrm>
          <a:prstGeom prst="rect">
            <a:avLst/>
          </a:prstGeom>
          <a:solidFill>
            <a:srgbClr val="F6D2CE"/>
          </a:solidFill>
          <a:ln w="6350">
            <a:solidFill>
              <a:srgbClr val="1B1B1E"/>
            </a:solidFill>
          </a:ln>
        </p:spPr>
      </p:sp>
      <p:sp>
        <p:nvSpPr>
          <p:cNvPr id="10" name="legend-text1"/>
          <p:cNvSpPr txBox="1"/>
          <p:nvPr/>
        </p:nvSpPr>
        <p:spPr>
          <a:xfrm>
            <a:off x="4368800" y="22860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= 片上存储单元</a:t>
            </a:r>
            <a:endParaRPr lang="en-US" sz="800" noProof="1"/>
          </a:p>
        </p:txBody>
      </p:sp>
      <p:sp>
        <p:nvSpPr>
          <p:cNvPr id="11" name="core-frame"/>
          <p:cNvSpPr/>
          <p:nvPr/>
        </p:nvSpPr>
        <p:spPr>
          <a:xfrm>
            <a:off x="711200" y="2616200"/>
            <a:ext cx="4927600" cy="2489200"/>
          </a:xfrm>
          <a:prstGeom prst="roundRect">
            <a:avLst>
              <a:gd name="adj" fmla="val 6000"/>
            </a:avLst>
          </a:prstGeom>
          <a:noFill/>
          <a:ln w="10160">
            <a:solidFill>
              <a:srgbClr val="1B1B1E"/>
            </a:solidFill>
            <a:prstDash val="dash"/>
          </a:ln>
        </p:spPr>
      </p:sp>
      <p:sp>
        <p:nvSpPr>
          <p:cNvPr id="12" name="core-frame-label"/>
          <p:cNvSpPr txBox="1"/>
          <p:nvPr/>
        </p:nvSpPr>
        <p:spPr>
          <a:xfrm>
            <a:off x="838200" y="2667000"/>
            <a:ext cx="279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262626"/>
                </a:solidFill>
                <a:latin typeface="微软雅黑"/>
                <a:ea typeface="微软雅黑"/>
              </a:rPr>
              <a:t>AI Core（Ascend 1920 共 24 核）</a:t>
            </a:r>
            <a:endParaRPr lang="en-US" sz="700" noProof="1"/>
          </a:p>
        </p:txBody>
      </p:sp>
      <p:sp>
        <p:nvSpPr>
          <p:cNvPr id="13" name="row-label-compute"/>
          <p:cNvSpPr txBox="1"/>
          <p:nvPr/>
        </p:nvSpPr>
        <p:spPr>
          <a:xfrm>
            <a:off x="812800" y="2946400"/>
            <a:ext cx="330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 vert="eaVert"/>
          <a:lstStyle/>
          <a:p>
            <a:pPr algn="ctr">
              <a:lnSpc>
                <a:spcPct val="120000"/>
              </a:lnSpc>
            </a:pPr>
            <a:r>
              <a:rPr lang="en-US" sz="650" noProof="1" b="1">
                <a:solidFill>
                  <a:srgbClr val="404040"/>
                </a:solidFill>
                <a:latin typeface="微软雅黑"/>
                <a:ea typeface="微软雅黑"/>
              </a:rPr>
              <a:t>计算单元</a:t>
            </a:r>
            <a:endParaRPr lang="en-US" sz="650" noProof="1"/>
          </a:p>
        </p:txBody>
      </p:sp>
      <p:sp>
        <p:nvSpPr>
          <p:cNvPr id="14" name="box-cube"/>
          <p:cNvSpPr/>
          <p:nvPr/>
        </p:nvSpPr>
        <p:spPr>
          <a:xfrm>
            <a:off x="1193800" y="2946400"/>
            <a:ext cx="1346200" cy="558800"/>
          </a:xfrm>
          <a:prstGeom prst="roundRect">
            <a:avLst>
              <a:gd name="adj" fmla="val 10000"/>
            </a:avLst>
          </a:prstGeom>
          <a:solidFill>
            <a:srgbClr val="C8DCF4"/>
          </a:solidFill>
          <a:ln w="6350">
            <a:solidFill>
              <a:srgbClr val="1B1B1E"/>
            </a:solidFill>
          </a:ln>
        </p:spPr>
      </p:sp>
      <p:sp>
        <p:nvSpPr>
          <p:cNvPr id="15" name="box-cube-text"/>
          <p:cNvSpPr txBox="1"/>
          <p:nvPr/>
        </p:nvSpPr>
        <p:spPr>
          <a:xfrm>
            <a:off x="1193800" y="2946400"/>
            <a:ext cx="1346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Cube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404040"/>
                </a:solidFill>
                <a:latin typeface="微软雅黑"/>
                <a:ea typeface="微软雅黑"/>
              </a:rPr>
              <a:t>矩阵乘 GEMM</a:t>
            </a:r>
            <a:endParaRPr lang="en-US" sz="1600" noProof="1"/>
          </a:p>
        </p:txBody>
      </p:sp>
      <p:sp>
        <p:nvSpPr>
          <p:cNvPr id="16" name="box-vector"/>
          <p:cNvSpPr/>
          <p:nvPr/>
        </p:nvSpPr>
        <p:spPr>
          <a:xfrm>
            <a:off x="2641600" y="2946400"/>
            <a:ext cx="1346200" cy="558800"/>
          </a:xfrm>
          <a:prstGeom prst="roundRect">
            <a:avLst>
              <a:gd name="adj" fmla="val 10000"/>
            </a:avLst>
          </a:prstGeom>
          <a:solidFill>
            <a:srgbClr val="CBE6CF"/>
          </a:solidFill>
          <a:ln w="6350">
            <a:solidFill>
              <a:srgbClr val="1B1B1E"/>
            </a:solidFill>
          </a:ln>
        </p:spPr>
      </p:sp>
      <p:sp>
        <p:nvSpPr>
          <p:cNvPr id="17" name="box-vector-text"/>
          <p:cNvSpPr txBox="1"/>
          <p:nvPr/>
        </p:nvSpPr>
        <p:spPr>
          <a:xfrm>
            <a:off x="2641600" y="2946400"/>
            <a:ext cx="1346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Vector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404040"/>
                </a:solidFill>
                <a:latin typeface="微软雅黑"/>
                <a:ea typeface="微软雅黑"/>
              </a:rPr>
              <a:t>向量 / 逐元素计算</a:t>
            </a:r>
            <a:endParaRPr lang="en-US" sz="1600" noProof="1"/>
          </a:p>
        </p:txBody>
      </p:sp>
      <p:sp>
        <p:nvSpPr>
          <p:cNvPr id="18" name="box-scalar"/>
          <p:cNvSpPr/>
          <p:nvPr/>
        </p:nvSpPr>
        <p:spPr>
          <a:xfrm>
            <a:off x="4089400" y="2946400"/>
            <a:ext cx="1346200" cy="558800"/>
          </a:xfrm>
          <a:prstGeom prst="roundRect">
            <a:avLst>
              <a:gd name="adj" fmla="val 10000"/>
            </a:avLst>
          </a:prstGeom>
          <a:solidFill>
            <a:srgbClr val="F0F0F4"/>
          </a:solidFill>
          <a:ln w="6350">
            <a:solidFill>
              <a:srgbClr val="1B1B1E"/>
            </a:solidFill>
          </a:ln>
        </p:spPr>
      </p:sp>
      <p:sp>
        <p:nvSpPr>
          <p:cNvPr id="19" name="box-scalar-text"/>
          <p:cNvSpPr txBox="1"/>
          <p:nvPr/>
        </p:nvSpPr>
        <p:spPr>
          <a:xfrm>
            <a:off x="4089400" y="2946400"/>
            <a:ext cx="1346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Scalar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404040"/>
                </a:solidFill>
                <a:latin typeface="微软雅黑"/>
                <a:ea typeface="微软雅黑"/>
              </a:rPr>
              <a:t>标量 / 控制逻辑</a:t>
            </a:r>
            <a:endParaRPr lang="en-US" sz="1600" noProof="1"/>
          </a:p>
        </p:txBody>
      </p:sp>
      <p:sp>
        <p:nvSpPr>
          <p:cNvPr id="20" name="arrow-s2c-1"/>
          <p:cNvSpPr/>
          <p:nvPr>
            <p:extLst>
              <p:ext uri="{F5677B7D-0D2A-4D9B-9A5C-6D8D7D0E5A5D}">
                <pptd:line encoding="base64url">eyJ2aWV3Qm94IjpbMiwxNl0sInBvaW50cyI6IjEsMSAxLDE1IiwiY3VydmUiOiJzaGFycCJ9</pptd:line>
              </p:ext>
            </p:extLst>
          </p:nvPr>
        </p:nvSpPr>
        <p:spPr>
          <a:xfrm>
            <a:off x="1854200" y="35052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1"/>
                </a:moveTo>
                <a:lnTo>
                  <a:pt x="1" y="15"/>
                </a:lnTo>
              </a:path>
            </a:pathLst>
          </a:custGeom>
          <a:noFill/>
          <a:ln w="9525">
            <a:solidFill>
              <a:srgbClr val="1B1B1E"/>
            </a:solidFill>
            <a:headEnd type="arrow"/>
            <a:tailEnd type="arrow"/>
          </a:ln>
        </p:spPr>
      </p:sp>
      <p:sp>
        <p:nvSpPr>
          <p:cNvPr id="21" name="arrow-s2c-2"/>
          <p:cNvSpPr/>
          <p:nvPr>
            <p:extLst>
              <p:ext uri="{F5677B7D-0D2A-4D9B-9A5C-6D8D7D0E5A5D}">
                <pptd:line encoding="base64url">eyJ2aWV3Qm94IjpbMiwxNl0sInBvaW50cyI6IjEsMSAxLDE1IiwiY3VydmUiOiJzaGFycCJ9</pptd:line>
              </p:ext>
            </p:extLst>
          </p:nvPr>
        </p:nvSpPr>
        <p:spPr>
          <a:xfrm>
            <a:off x="3302000" y="35052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1"/>
                </a:moveTo>
                <a:lnTo>
                  <a:pt x="1" y="15"/>
                </a:lnTo>
              </a:path>
            </a:pathLst>
          </a:custGeom>
          <a:noFill/>
          <a:ln w="9525">
            <a:solidFill>
              <a:srgbClr val="1B1B1E"/>
            </a:solidFill>
            <a:headEnd type="arrow"/>
            <a:tailEnd type="arrow"/>
          </a:ln>
        </p:spPr>
      </p:sp>
      <p:sp>
        <p:nvSpPr>
          <p:cNvPr id="22" name="arrow-s2c-3"/>
          <p:cNvSpPr/>
          <p:nvPr>
            <p:extLst>
              <p:ext uri="{F5677B7D-0D2A-4D9B-9A5C-6D8D7D0E5A5D}">
                <pptd:line encoding="base64url">eyJ2aWV3Qm94IjpbMiwxNl0sInBvaW50cyI6IjEsMSAxLDE1IiwiY3VydmUiOiJzaGFycCJ9</pptd:line>
              </p:ext>
            </p:extLst>
          </p:nvPr>
        </p:nvSpPr>
        <p:spPr>
          <a:xfrm>
            <a:off x="4749800" y="35052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1"/>
                </a:moveTo>
                <a:lnTo>
                  <a:pt x="1" y="15"/>
                </a:lnTo>
              </a:path>
            </a:pathLst>
          </a:custGeom>
          <a:noFill/>
          <a:ln w="9525">
            <a:solidFill>
              <a:srgbClr val="1B1B1E"/>
            </a:solidFill>
            <a:headEnd type="arrow"/>
            <a:tailEnd type="arrow"/>
          </a:ln>
        </p:spPr>
      </p:sp>
      <p:sp>
        <p:nvSpPr>
          <p:cNvPr id="23" name="row-label-mem"/>
          <p:cNvSpPr txBox="1"/>
          <p:nvPr/>
        </p:nvSpPr>
        <p:spPr>
          <a:xfrm>
            <a:off x="812800" y="3708400"/>
            <a:ext cx="330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 vert="eaVert"/>
          <a:lstStyle/>
          <a:p>
            <a:pPr algn="ctr">
              <a:lnSpc>
                <a:spcPct val="120000"/>
              </a:lnSpc>
            </a:pPr>
            <a:r>
              <a:rPr lang="en-US" sz="650" noProof="1" b="1">
                <a:solidFill>
                  <a:srgbClr val="404040"/>
                </a:solidFill>
                <a:latin typeface="微软雅黑"/>
                <a:ea typeface="微软雅黑"/>
              </a:rPr>
              <a:t>存储单元</a:t>
            </a:r>
            <a:endParaRPr lang="en-US" sz="650" noProof="1"/>
          </a:p>
        </p:txBody>
      </p:sp>
      <p:sp>
        <p:nvSpPr>
          <p:cNvPr id="24" name="box-l1"/>
          <p:cNvSpPr/>
          <p:nvPr/>
        </p:nvSpPr>
        <p:spPr>
          <a:xfrm>
            <a:off x="1193800" y="3708400"/>
            <a:ext cx="1346200" cy="457200"/>
          </a:xfrm>
          <a:prstGeom prst="roundRect">
            <a:avLst>
              <a:gd name="adj" fmla="val 10000"/>
            </a:avLst>
          </a:prstGeom>
          <a:solidFill>
            <a:srgbClr val="F6D2CE"/>
          </a:solidFill>
          <a:ln w="6350">
            <a:solidFill>
              <a:srgbClr val="1B1B1E"/>
            </a:solidFill>
          </a:ln>
        </p:spPr>
      </p:sp>
      <p:sp>
        <p:nvSpPr>
          <p:cNvPr id="25" name="box-l1-text"/>
          <p:cNvSpPr txBox="1"/>
          <p:nvPr/>
        </p:nvSpPr>
        <p:spPr>
          <a:xfrm>
            <a:off x="1193800" y="3708400"/>
            <a:ext cx="1346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 b="1">
                <a:solidFill>
                  <a:srgbClr val="262626"/>
                </a:solidFill>
                <a:latin typeface="微软雅黑"/>
                <a:ea typeface="微软雅黑"/>
              </a:rPr>
              <a:t>L1 Buffer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600" noProof="1">
                <a:solidFill>
                  <a:srgbClr val="404040"/>
                </a:solidFill>
                <a:latin typeface="微软雅黑"/>
                <a:ea typeface="微软雅黑"/>
              </a:rPr>
              <a:t>片上大块缓冲</a:t>
            </a:r>
            <a:endParaRPr lang="en-US" sz="1600" noProof="1"/>
          </a:p>
        </p:txBody>
      </p:sp>
      <p:sp>
        <p:nvSpPr>
          <p:cNvPr id="26" name="box-l0"/>
          <p:cNvSpPr/>
          <p:nvPr/>
        </p:nvSpPr>
        <p:spPr>
          <a:xfrm>
            <a:off x="2641600" y="3708400"/>
            <a:ext cx="1346200" cy="457200"/>
          </a:xfrm>
          <a:prstGeom prst="roundRect">
            <a:avLst>
              <a:gd name="adj" fmla="val 10000"/>
            </a:avLst>
          </a:prstGeom>
          <a:solidFill>
            <a:srgbClr val="F6D2CE"/>
          </a:solidFill>
          <a:ln w="6350">
            <a:solidFill>
              <a:srgbClr val="1B1B1E"/>
            </a:solidFill>
          </a:ln>
        </p:spPr>
      </p:sp>
      <p:sp>
        <p:nvSpPr>
          <p:cNvPr id="27" name="box-l0-text"/>
          <p:cNvSpPr txBox="1"/>
          <p:nvPr/>
        </p:nvSpPr>
        <p:spPr>
          <a:xfrm>
            <a:off x="2641600" y="3708400"/>
            <a:ext cx="1346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 b="1">
                <a:solidFill>
                  <a:srgbClr val="262626"/>
                </a:solidFill>
                <a:latin typeface="微软雅黑"/>
                <a:ea typeface="微软雅黑"/>
              </a:rPr>
              <a:t>L0A / L0B / L0C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600" noProof="1">
                <a:solidFill>
                  <a:srgbClr val="404040"/>
                </a:solidFill>
                <a:latin typeface="微软雅黑"/>
                <a:ea typeface="微软雅黑"/>
              </a:rPr>
              <a:t>Cube 专用缓冲</a:t>
            </a:r>
            <a:endParaRPr lang="en-US" sz="1600" noProof="1"/>
          </a:p>
        </p:txBody>
      </p:sp>
      <p:sp>
        <p:nvSpPr>
          <p:cNvPr id="28" name="box-ub"/>
          <p:cNvSpPr/>
          <p:nvPr/>
        </p:nvSpPr>
        <p:spPr>
          <a:xfrm>
            <a:off x="4089400" y="3708400"/>
            <a:ext cx="1346200" cy="457200"/>
          </a:xfrm>
          <a:prstGeom prst="roundRect">
            <a:avLst>
              <a:gd name="adj" fmla="val 10000"/>
            </a:avLst>
          </a:prstGeom>
          <a:solidFill>
            <a:srgbClr val="F6D2CE"/>
          </a:solidFill>
          <a:ln w="6350">
            <a:solidFill>
              <a:srgbClr val="1B1B1E"/>
            </a:solidFill>
          </a:ln>
        </p:spPr>
      </p:sp>
      <p:sp>
        <p:nvSpPr>
          <p:cNvPr id="29" name="box-ub-text"/>
          <p:cNvSpPr txBox="1"/>
          <p:nvPr/>
        </p:nvSpPr>
        <p:spPr>
          <a:xfrm>
            <a:off x="4089400" y="3708400"/>
            <a:ext cx="1346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 b="1">
                <a:solidFill>
                  <a:srgbClr val="262626"/>
                </a:solidFill>
                <a:latin typeface="微软雅黑"/>
                <a:ea typeface="微软雅黑"/>
              </a:rPr>
              <a:t>UB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600" noProof="1">
                <a:solidFill>
                  <a:srgbClr val="404040"/>
                </a:solidFill>
                <a:latin typeface="微软雅黑"/>
                <a:ea typeface="微软雅黑"/>
              </a:rPr>
              <a:t>Vector 统一缓冲</a:t>
            </a:r>
            <a:endParaRPr lang="en-US" sz="1600" noProof="1"/>
          </a:p>
        </p:txBody>
      </p:sp>
      <p:sp>
        <p:nvSpPr>
          <p:cNvPr id="30" name="arrow-m2s-1"/>
          <p:cNvSpPr/>
          <p:nvPr>
            <p:extLst>
              <p:ext uri="{F5677B7D-0D2A-4D9B-9A5C-6D8D7D0E5A5D}">
                <pptd:line encoding="base64url">eyJ2aWV3Qm94IjpbMiwxNl0sInBvaW50cyI6IjEsMSAxLDE1IiwiY3VydmUiOiJzaGFycCJ9</pptd:line>
              </p:ext>
            </p:extLst>
          </p:nvPr>
        </p:nvSpPr>
        <p:spPr>
          <a:xfrm>
            <a:off x="1854200" y="41656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1"/>
                </a:moveTo>
                <a:lnTo>
                  <a:pt x="1" y="15"/>
                </a:lnTo>
              </a:path>
            </a:pathLst>
          </a:custGeom>
          <a:noFill/>
          <a:ln w="9525">
            <a:solidFill>
              <a:srgbClr val="1B1B1E"/>
            </a:solidFill>
            <a:headEnd type="arrow"/>
            <a:tailEnd type="arrow"/>
          </a:ln>
        </p:spPr>
      </p:sp>
      <p:sp>
        <p:nvSpPr>
          <p:cNvPr id="31" name="arrow-m2s-2"/>
          <p:cNvSpPr/>
          <p:nvPr>
            <p:extLst>
              <p:ext uri="{F5677B7D-0D2A-4D9B-9A5C-6D8D7D0E5A5D}">
                <pptd:line encoding="base64url">eyJ2aWV3Qm94IjpbMiwxNl0sInBvaW50cyI6IjEsMSAxLDE1IiwiY3VydmUiOiJzaGFycCJ9</pptd:line>
              </p:ext>
            </p:extLst>
          </p:nvPr>
        </p:nvSpPr>
        <p:spPr>
          <a:xfrm>
            <a:off x="3302000" y="41656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1"/>
                </a:moveTo>
                <a:lnTo>
                  <a:pt x="1" y="15"/>
                </a:lnTo>
              </a:path>
            </a:pathLst>
          </a:custGeom>
          <a:noFill/>
          <a:ln w="9525">
            <a:solidFill>
              <a:srgbClr val="1B1B1E"/>
            </a:solidFill>
            <a:headEnd type="arrow"/>
            <a:tailEnd type="arrow"/>
          </a:ln>
        </p:spPr>
      </p:sp>
      <p:sp>
        <p:nvSpPr>
          <p:cNvPr id="32" name="arrow-m2s-3"/>
          <p:cNvSpPr/>
          <p:nvPr>
            <p:extLst>
              <p:ext uri="{F5677B7D-0D2A-4D9B-9A5C-6D8D7D0E5A5D}">
                <pptd:line encoding="base64url">eyJ2aWV3Qm94IjpbMiwxNl0sInBvaW50cyI6IjEsMSAxLDE1IiwiY3VydmUiOiJzaGFycCJ9</pptd:line>
              </p:ext>
            </p:extLst>
          </p:nvPr>
        </p:nvSpPr>
        <p:spPr>
          <a:xfrm>
            <a:off x="4749800" y="41656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1"/>
                </a:moveTo>
                <a:lnTo>
                  <a:pt x="1" y="15"/>
                </a:lnTo>
              </a:path>
            </a:pathLst>
          </a:custGeom>
          <a:noFill/>
          <a:ln w="9525">
            <a:solidFill>
              <a:srgbClr val="1B1B1E"/>
            </a:solidFill>
            <a:headEnd type="arrow"/>
            <a:tailEnd type="arrow"/>
          </a:ln>
        </p:spPr>
      </p:sp>
      <p:sp>
        <p:nvSpPr>
          <p:cNvPr id="33" name="row-label-mte"/>
          <p:cNvSpPr txBox="1"/>
          <p:nvPr/>
        </p:nvSpPr>
        <p:spPr>
          <a:xfrm>
            <a:off x="812800" y="4368800"/>
            <a:ext cx="3302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 vert="eaVert"/>
          <a:lstStyle/>
          <a:p>
            <a:pPr algn="ctr">
              <a:lnSpc>
                <a:spcPct val="120000"/>
              </a:lnSpc>
            </a:pPr>
            <a:r>
              <a:rPr lang="en-US" sz="650" noProof="1" b="1">
                <a:solidFill>
                  <a:srgbClr val="404040"/>
                </a:solidFill>
                <a:latin typeface="微软雅黑"/>
                <a:ea typeface="微软雅黑"/>
              </a:rPr>
              <a:t>搬运单元</a:t>
            </a:r>
            <a:endParaRPr lang="en-US" sz="650" noProof="1"/>
          </a:p>
        </p:txBody>
      </p:sp>
      <p:sp>
        <p:nvSpPr>
          <p:cNvPr id="34" name="box-mte"/>
          <p:cNvSpPr/>
          <p:nvPr/>
        </p:nvSpPr>
        <p:spPr>
          <a:xfrm>
            <a:off x="1193800" y="4368800"/>
            <a:ext cx="4241800" cy="35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1B1B1E"/>
            </a:solidFill>
          </a:ln>
        </p:spPr>
      </p:sp>
      <p:sp>
        <p:nvSpPr>
          <p:cNvPr id="35" name="box-mte-text"/>
          <p:cNvSpPr txBox="1"/>
          <p:nvPr/>
        </p:nvSpPr>
        <p:spPr>
          <a:xfrm>
            <a:off x="1193800" y="4368800"/>
            <a:ext cx="42418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 b="1">
                <a:solidFill>
                  <a:srgbClr val="262626"/>
                </a:solidFill>
                <a:latin typeface="微软雅黑"/>
                <a:ea typeface="微软雅黑"/>
              </a:rPr>
              <a:t>MTE（Memory Transfer Engine）</a:t>
            </a:r>
            <a:r>
              <a:rPr lang="en-US" sz="650" noProof="1">
                <a:solidFill>
                  <a:srgbClr val="404040"/>
                </a:solidFill>
                <a:latin typeface="微软雅黑"/>
                <a:ea typeface="微软雅黑"/>
              </a:rPr>
              <a:t>：HBM 与片上存储间的数据搬入 / 搬出</a:t>
            </a:r>
            <a:endParaRPr lang="en-US" sz="1600" noProof="1"/>
          </a:p>
        </p:txBody>
      </p:sp>
      <p:sp>
        <p:nvSpPr>
          <p:cNvPr id="36" name="arrow-hbm"/>
          <p:cNvSpPr/>
          <p:nvPr>
            <p:extLst>
              <p:ext uri="{F5677B7D-0D2A-4D9B-9A5C-6D8D7D0E5A5D}">
                <pptd:line encoding="base64url">eyJ2aWV3Qm94IjpbMiwzNF0sInBvaW50cyI6IjEsMSAxLDMzIiwiY3VydmUiOiJzaGFycCJ9</pptd:line>
              </p:ext>
            </p:extLst>
          </p:nvPr>
        </p:nvSpPr>
        <p:spPr>
          <a:xfrm>
            <a:off x="3289300" y="4724400"/>
            <a:ext cx="25400" cy="431800"/>
          </a:xfrm>
          <a:custGeom>
            <a:avLst/>
            <a:gdLst/>
            <a:ahLst/>
            <a:cxnLst/>
            <a:rect l="l" t="t" r="r" b="b"/>
            <a:pathLst>
              <a:path w="2" h="34">
                <a:moveTo>
                  <a:pt x="1" y="1"/>
                </a:moveTo>
                <a:lnTo>
                  <a:pt x="1" y="33"/>
                </a:lnTo>
              </a:path>
            </a:pathLst>
          </a:custGeom>
          <a:noFill/>
          <a:ln w="9525">
            <a:solidFill>
              <a:srgbClr val="1B1B1E"/>
            </a:solidFill>
            <a:headEnd type="arrow"/>
            <a:tailEnd type="arrow"/>
          </a:ln>
        </p:spPr>
      </p:sp>
      <p:sp>
        <p:nvSpPr>
          <p:cNvPr id="37" name="box-hbm"/>
          <p:cNvSpPr/>
          <p:nvPr/>
        </p:nvSpPr>
        <p:spPr>
          <a:xfrm>
            <a:off x="1905000" y="5156200"/>
            <a:ext cx="2794000" cy="254000"/>
          </a:xfrm>
          <a:prstGeom prst="rect">
            <a:avLst/>
          </a:prstGeom>
          <a:solidFill>
            <a:srgbClr val="E6E6E8"/>
          </a:solidFill>
          <a:ln w="6350">
            <a:solidFill>
              <a:srgbClr val="1B1B1E"/>
            </a:solidFill>
          </a:ln>
        </p:spPr>
      </p:sp>
      <p:sp>
        <p:nvSpPr>
          <p:cNvPr id="38" name="box-hbm-text"/>
          <p:cNvSpPr txBox="1"/>
          <p:nvPr/>
        </p:nvSpPr>
        <p:spPr>
          <a:xfrm>
            <a:off x="1905000" y="51562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 b="1">
                <a:solidFill>
                  <a:srgbClr val="262626"/>
                </a:solidFill>
                <a:latin typeface="微软雅黑"/>
                <a:ea typeface="微软雅黑"/>
              </a:rPr>
              <a:t>HBM / GM（显存）</a:t>
            </a:r>
            <a:endParaRPr lang="en-US" sz="1600" noProof="1"/>
          </a:p>
        </p:txBody>
      </p:sp>
      <p:sp>
        <p:nvSpPr>
          <p:cNvPr id="39" name="param-label"/>
          <p:cNvSpPr txBox="1"/>
          <p:nvPr/>
        </p:nvSpPr>
        <p:spPr>
          <a:xfrm>
            <a:off x="6197600" y="2286000"/>
            <a:ext cx="4318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三类单元：组成、功能与开发诉求</a:t>
            </a:r>
            <a:endParaRPr lang="en-US" sz="1200" noProof="1"/>
          </a:p>
        </p:txBody>
      </p:sp>
      <p:graphicFrame>
        <p:nvGraphicFramePr>
          <p:cNvPr id="40" name="param-table"/>
          <p:cNvGraphicFramePr>
            <a:graphicFrameLocks noGrp="1"/>
          </p:cNvGraphicFramePr>
          <p:nvPr/>
        </p:nvGraphicFramePr>
        <p:xfrm>
          <a:off x="6197600" y="2641600"/>
          <a:ext cx="5537200" cy="2743200"/>
        </p:xfrm>
        <a:graphic>
          <a:graphicData uri="http://schemas.openxmlformats.org/drawingml/2006/table">
            <a:tbl>
              <a:tblPr/>
              <a:tblGrid>
                <a:gridCol w="830580"/>
                <a:gridCol w="1328928"/>
                <a:gridCol w="1716532"/>
                <a:gridCol w="1661160"/>
              </a:tblGrid>
              <a:tr h="35661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类别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组成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功能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算子开发诉求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79552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搬运单元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MTE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HBM 与 L1 / UB 间的数据搬入、搬出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与计算流水重叠，掩盖搬运开销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79552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存储单元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L1 / L0 / UB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片上多级数据缓冲，供计算单元就近取数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容量约束决定核内切块（tiling）大小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79552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计算单元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Cube / Vector / Scalar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矩阵乘 / 向量计算 / 标量与控制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算子按计算形态映射到对应单元 → 决定算子分类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1" name="param-note"/>
          <p:cNvSpPr txBox="1"/>
          <p:nvPr/>
        </p:nvSpPr>
        <p:spPr>
          <a:xfrm>
            <a:off x="6197600" y="5461000"/>
            <a:ext cx="5537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注：MTE 与 Cube / Vector 相互独立，是 kernel 内组织搬运-计算流水线重叠的硬件基础。</a:t>
            </a:r>
            <a:endParaRPr lang="en-US" sz="750" noProof="1"/>
          </a:p>
        </p:txBody>
      </p:sp>
      <p:sp>
        <p:nvSpPr>
          <p:cNvPr id="42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硬件对算子开发的三个约束</a:t>
            </a:r>
            <a:endParaRPr lang="en-US" sz="1200" noProof="1"/>
          </a:p>
        </p:txBody>
      </p:sp>
      <p:sp>
        <p:nvSpPr>
          <p:cNvPr id="43" name="dev-bullets"/>
          <p:cNvSpPr txBox="1"/>
          <p:nvPr/>
        </p:nvSpPr>
        <p:spPr>
          <a:xfrm>
            <a:off x="558800" y="59182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分核前提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：24 核多核架构 → Tiling 需把计算任务均匀切分到各核，避免部分核空闲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容量约束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：L1 / L0 / UB 片上容量有限 → 核内切块大小由片上存储决定，放不下的维度必须循环切分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流水基础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：MTE 与计算单元相互独立 → kernel 内可组织 搬入 → 计算 → 搬出 三级流水并批间重叠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选型依据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：算子的计算形态（矩阵 / 向量 / 标量）决定使用哪类计算单元 → 直接决定算子分类</a:t>
            </a:r>
            <a:endParaRPr lang="en-US" sz="8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资料来源：《从零构建FA算子》课程资料整理 · 第一章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算子分类：Cube 算子 / Vector 算子 / Mix 融合算子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分类标准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：按算子使用的计算单元划分 —— Cube 算子、Vector 算子、Mix 融合算子三类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Cube 算子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：仅使用 Cube 核，纯矩阵计算，典型如 MatMul（矩阵乘）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Vector 算子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：仅使用 Vector 核，纯向量计算，典型如 Relu 等激活类算子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Mix 融合算子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：Cube + Vector 协同，FA 正属此类；含反量化处理的 BatchMatMul 同样归为融合算子</a:t>
            </a:r>
            <a:endParaRPr lang="en-US" sz="900" noProof="1"/>
          </a:p>
        </p:txBody>
      </p:sp>
      <p:sp>
        <p:nvSpPr>
          <p:cNvPr id="8" name="cls-label"/>
          <p:cNvSpPr txBox="1"/>
          <p:nvPr/>
        </p:nvSpPr>
        <p:spPr>
          <a:xfrm>
            <a:off x="5588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算子分类与典型示例</a:t>
            </a:r>
            <a:endParaRPr lang="en-US" sz="1200" noProof="1"/>
          </a:p>
        </p:txBody>
      </p:sp>
      <p:sp>
        <p:nvSpPr>
          <p:cNvPr id="9" name="legend-box"/>
          <p:cNvSpPr/>
          <p:nvPr/>
        </p:nvSpPr>
        <p:spPr>
          <a:xfrm>
            <a:off x="4191000" y="23241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dash"/>
          </a:ln>
        </p:spPr>
      </p:sp>
      <p:sp>
        <p:nvSpPr>
          <p:cNvPr id="10" name="legend-text"/>
          <p:cNvSpPr txBox="1"/>
          <p:nvPr/>
        </p:nvSpPr>
        <p:spPr>
          <a:xfrm>
            <a:off x="4368800" y="22860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红框 = 本课程示例算子</a:t>
            </a:r>
            <a:endParaRPr lang="en-US" sz="800" noProof="1"/>
          </a:p>
        </p:txBody>
      </p:sp>
      <p:sp>
        <p:nvSpPr>
          <p:cNvPr id="11" name="cls-root"/>
          <p:cNvSpPr/>
          <p:nvPr/>
        </p:nvSpPr>
        <p:spPr>
          <a:xfrm>
            <a:off x="1993900" y="2692400"/>
            <a:ext cx="2794000" cy="355600"/>
          </a:xfrm>
          <a:prstGeom prst="roundRect">
            <a:avLst>
              <a:gd name="adj" fmla="val 12000"/>
            </a:avLst>
          </a:prstGeom>
          <a:solidFill>
            <a:srgbClr val="E6E6E8"/>
          </a:solidFill>
          <a:ln w="6350">
            <a:solidFill>
              <a:srgbClr val="1B1B1E"/>
            </a:solidFill>
          </a:ln>
        </p:spPr>
      </p:sp>
      <p:sp>
        <p:nvSpPr>
          <p:cNvPr id="12" name="cls-root-text"/>
          <p:cNvSpPr txBox="1"/>
          <p:nvPr/>
        </p:nvSpPr>
        <p:spPr>
          <a:xfrm>
            <a:off x="1993900" y="2692400"/>
            <a:ext cx="279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昇腾算子（按计算单元分类）</a:t>
            </a:r>
            <a:endParaRPr lang="en-US" sz="1600" noProof="1"/>
          </a:p>
        </p:txBody>
      </p:sp>
      <p:sp>
        <p:nvSpPr>
          <p:cNvPr id="13" name="cls-line-root"/>
          <p:cNvSpPr/>
          <p:nvPr>
            <p:extLst>
              <p:ext uri="{F5677B7D-0D2A-4D9B-9A5C-6D8D7D0E5A5D}">
                <pptd:line encoding="base64url">eyJ2aWV3Qm94IjpbMiwxNF0sInBvaW50cyI6IjEsMSAxLDEzIiwiY3VydmUiOiJzaGFycCJ9</pptd:line>
              </p:ext>
            </p:extLst>
          </p:nvPr>
        </p:nvSpPr>
        <p:spPr>
          <a:xfrm>
            <a:off x="3378200" y="3048000"/>
            <a:ext cx="25400" cy="177800"/>
          </a:xfrm>
          <a:custGeom>
            <a:avLst/>
            <a:gdLst/>
            <a:ahLst/>
            <a:cxnLst/>
            <a:rect l="l" t="t" r="r" b="b"/>
            <a:pathLst>
              <a:path w="2" h="14">
                <a:moveTo>
                  <a:pt x="1" y="1"/>
                </a:moveTo>
                <a:lnTo>
                  <a:pt x="1" y="13"/>
                </a:lnTo>
              </a:path>
            </a:pathLst>
          </a:custGeom>
          <a:noFill/>
          <a:ln w="9525">
            <a:solidFill>
              <a:srgbClr val="1B1B1E"/>
            </a:solidFill>
          </a:ln>
        </p:spPr>
      </p:sp>
      <p:sp>
        <p:nvSpPr>
          <p:cNvPr id="14" name="cls-line-bus"/>
          <p:cNvSpPr/>
          <p:nvPr>
            <p:extLst>
              <p:ext uri="{F5677B7D-0D2A-4D9B-9A5C-6D8D7D0E5A5D}">
                <pptd:line encoding="base64url">eyJ2aWV3Qm94IjpbMzA0LDJdLCJwb2ludHMiOiIxLDEgMzAzLDEiLCJjdXJ2ZSI6InNoYXJwIn0</pptd:line>
              </p:ext>
            </p:extLst>
          </p:nvPr>
        </p:nvSpPr>
        <p:spPr>
          <a:xfrm>
            <a:off x="1473200" y="3225800"/>
            <a:ext cx="3860800" cy="25400"/>
          </a:xfrm>
          <a:custGeom>
            <a:avLst/>
            <a:gdLst/>
            <a:ahLst/>
            <a:cxnLst/>
            <a:rect l="l" t="t" r="r" b="b"/>
            <a:pathLst>
              <a:path w="304" h="2">
                <a:moveTo>
                  <a:pt x="1" y="1"/>
                </a:moveTo>
                <a:lnTo>
                  <a:pt x="303" y="1"/>
                </a:lnTo>
              </a:path>
            </a:pathLst>
          </a:custGeom>
          <a:noFill/>
          <a:ln w="9525">
            <a:solidFill>
              <a:srgbClr val="1B1B1E"/>
            </a:solidFill>
          </a:ln>
        </p:spPr>
      </p:sp>
      <p:sp>
        <p:nvSpPr>
          <p:cNvPr id="15" name="cls-line-d1"/>
          <p:cNvSpPr/>
          <p:nvPr>
            <p:extLst>
              <p:ext uri="{F5677B7D-0D2A-4D9B-9A5C-6D8D7D0E5A5D}">
                <pptd:line encoding="base64url">eyJ2aWV3Qm94IjpbMiwxNl0sInBvaW50cyI6IjEsMSAxLDE1IiwiY3VydmUiOiJzaGFycCJ9</pptd:line>
              </p:ext>
            </p:extLst>
          </p:nvPr>
        </p:nvSpPr>
        <p:spPr>
          <a:xfrm>
            <a:off x="1460500" y="32258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1"/>
                </a:moveTo>
                <a:lnTo>
                  <a:pt x="1" y="15"/>
                </a:lnTo>
              </a:path>
            </a:pathLst>
          </a:custGeom>
          <a:noFill/>
          <a:ln w="9525">
            <a:solidFill>
              <a:srgbClr val="1B1B1E"/>
            </a:solidFill>
            <a:tailEnd type="arrow"/>
          </a:ln>
        </p:spPr>
      </p:sp>
      <p:sp>
        <p:nvSpPr>
          <p:cNvPr id="16" name="cls-line-d2"/>
          <p:cNvSpPr/>
          <p:nvPr>
            <p:extLst>
              <p:ext uri="{F5677B7D-0D2A-4D9B-9A5C-6D8D7D0E5A5D}">
                <pptd:line encoding="base64url">eyJ2aWV3Qm94IjpbMiwxNl0sInBvaW50cyI6IjEsMSAxLDE1IiwiY3VydmUiOiJzaGFycCJ9</pptd:line>
              </p:ext>
            </p:extLst>
          </p:nvPr>
        </p:nvSpPr>
        <p:spPr>
          <a:xfrm>
            <a:off x="3378200" y="32258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1"/>
                </a:moveTo>
                <a:lnTo>
                  <a:pt x="1" y="15"/>
                </a:lnTo>
              </a:path>
            </a:pathLst>
          </a:custGeom>
          <a:noFill/>
          <a:ln w="9525">
            <a:solidFill>
              <a:srgbClr val="1B1B1E"/>
            </a:solidFill>
            <a:tailEnd type="arrow"/>
          </a:ln>
        </p:spPr>
      </p:sp>
      <p:sp>
        <p:nvSpPr>
          <p:cNvPr id="17" name="cls-line-d3"/>
          <p:cNvSpPr/>
          <p:nvPr>
            <p:extLst>
              <p:ext uri="{F5677B7D-0D2A-4D9B-9A5C-6D8D7D0E5A5D}">
                <pptd:line encoding="base64url">eyJ2aWV3Qm94IjpbMiwxNl0sInBvaW50cyI6IjEsMSAxLDE1IiwiY3VydmUiOiJzaGFycCJ9</pptd:line>
              </p:ext>
            </p:extLst>
          </p:nvPr>
        </p:nvSpPr>
        <p:spPr>
          <a:xfrm>
            <a:off x="5321300" y="32258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1"/>
                </a:moveTo>
                <a:lnTo>
                  <a:pt x="1" y="15"/>
                </a:lnTo>
              </a:path>
            </a:pathLst>
          </a:custGeom>
          <a:noFill/>
          <a:ln w="9525">
            <a:solidFill>
              <a:srgbClr val="1B1B1E"/>
            </a:solidFill>
            <a:tailEnd type="arrow"/>
          </a:ln>
        </p:spPr>
      </p:sp>
      <p:sp>
        <p:nvSpPr>
          <p:cNvPr id="18" name="cls-branch1"/>
          <p:cNvSpPr/>
          <p:nvPr/>
        </p:nvSpPr>
        <p:spPr>
          <a:xfrm>
            <a:off x="647700" y="3429000"/>
            <a:ext cx="1651000" cy="431800"/>
          </a:xfrm>
          <a:prstGeom prst="roundRect">
            <a:avLst>
              <a:gd name="adj" fmla="val 12000"/>
            </a:avLst>
          </a:prstGeom>
          <a:solidFill>
            <a:srgbClr val="C8DCF4"/>
          </a:solidFill>
          <a:ln w="6350">
            <a:solidFill>
              <a:srgbClr val="1B1B1E"/>
            </a:solidFill>
          </a:ln>
        </p:spPr>
      </p:sp>
      <p:sp>
        <p:nvSpPr>
          <p:cNvPr id="19" name="cls-branch1-text"/>
          <p:cNvSpPr txBox="1"/>
          <p:nvPr/>
        </p:nvSpPr>
        <p:spPr>
          <a:xfrm>
            <a:off x="647700" y="34290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Cube 算子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404040"/>
                </a:solidFill>
                <a:latin typeface="微软雅黑"/>
                <a:ea typeface="微软雅黑"/>
              </a:rPr>
              <a:t>仅使用 Cube 核</a:t>
            </a:r>
            <a:endParaRPr lang="en-US" sz="1600" noProof="1"/>
          </a:p>
        </p:txBody>
      </p:sp>
      <p:sp>
        <p:nvSpPr>
          <p:cNvPr id="20" name="cls-branch2"/>
          <p:cNvSpPr/>
          <p:nvPr/>
        </p:nvSpPr>
        <p:spPr>
          <a:xfrm>
            <a:off x="2552700" y="3429000"/>
            <a:ext cx="1651000" cy="431800"/>
          </a:xfrm>
          <a:prstGeom prst="roundRect">
            <a:avLst>
              <a:gd name="adj" fmla="val 12000"/>
            </a:avLst>
          </a:prstGeom>
          <a:solidFill>
            <a:srgbClr val="CBE6CF"/>
          </a:solidFill>
          <a:ln w="6350">
            <a:solidFill>
              <a:srgbClr val="1B1B1E"/>
            </a:solidFill>
          </a:ln>
        </p:spPr>
      </p:sp>
      <p:sp>
        <p:nvSpPr>
          <p:cNvPr id="21" name="cls-branch2-text"/>
          <p:cNvSpPr txBox="1"/>
          <p:nvPr/>
        </p:nvSpPr>
        <p:spPr>
          <a:xfrm>
            <a:off x="2552700" y="34290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Vector 算子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404040"/>
                </a:solidFill>
                <a:latin typeface="微软雅黑"/>
                <a:ea typeface="微软雅黑"/>
              </a:rPr>
              <a:t>仅使用 Vector 核</a:t>
            </a:r>
            <a:endParaRPr lang="en-US" sz="1600" noProof="1"/>
          </a:p>
        </p:txBody>
      </p:sp>
      <p:sp>
        <p:nvSpPr>
          <p:cNvPr id="22" name="cls-branch3"/>
          <p:cNvSpPr/>
          <p:nvPr/>
        </p:nvSpPr>
        <p:spPr>
          <a:xfrm>
            <a:off x="4457700" y="3429000"/>
            <a:ext cx="1651000" cy="431800"/>
          </a:xfrm>
          <a:prstGeom prst="roundRect">
            <a:avLst>
              <a:gd name="adj" fmla="val 12000"/>
            </a:avLst>
          </a:prstGeom>
          <a:solidFill>
            <a:srgbClr val="F6D2CE"/>
          </a:solidFill>
          <a:ln w="6350">
            <a:solidFill>
              <a:srgbClr val="1B1B1E"/>
            </a:solidFill>
          </a:ln>
        </p:spPr>
      </p:sp>
      <p:sp>
        <p:nvSpPr>
          <p:cNvPr id="23" name="cls-branch3-text"/>
          <p:cNvSpPr txBox="1"/>
          <p:nvPr/>
        </p:nvSpPr>
        <p:spPr>
          <a:xfrm>
            <a:off x="4457700" y="34290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Mix 融合算子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404040"/>
                </a:solidFill>
                <a:latin typeface="微软雅黑"/>
                <a:ea typeface="微软雅黑"/>
              </a:rPr>
              <a:t>Cube + Vector 协同</a:t>
            </a:r>
            <a:endParaRPr lang="en-US" sz="1600" noProof="1"/>
          </a:p>
        </p:txBody>
      </p:sp>
      <p:sp>
        <p:nvSpPr>
          <p:cNvPr id="24" name="cls-ex1"/>
          <p:cNvSpPr/>
          <p:nvPr/>
        </p:nvSpPr>
        <p:spPr>
          <a:xfrm>
            <a:off x="647700" y="4089400"/>
            <a:ext cx="1651000" cy="60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1B1B1E"/>
            </a:solidFill>
          </a:ln>
        </p:spPr>
      </p:sp>
      <p:sp>
        <p:nvSpPr>
          <p:cNvPr id="25" name="cls-ex1-text"/>
          <p:cNvSpPr txBox="1"/>
          <p:nvPr/>
        </p:nvSpPr>
        <p:spPr>
          <a:xfrm>
            <a:off x="647700" y="4089400"/>
            <a:ext cx="1651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04040"/>
                </a:solidFill>
                <a:latin typeface="微软雅黑"/>
                <a:ea typeface="微软雅黑"/>
              </a:rPr>
              <a:t>典型示例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750" noProof="1" b="1">
                <a:solidFill>
                  <a:srgbClr val="262626"/>
                </a:solidFill>
                <a:latin typeface="微软雅黑"/>
                <a:ea typeface="微软雅黑"/>
              </a:rPr>
              <a:t>MatMul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404040"/>
                </a:solidFill>
                <a:latin typeface="微软雅黑"/>
                <a:ea typeface="微软雅黑"/>
              </a:rPr>
              <a:t>矩阵乘（GEMM 形态）</a:t>
            </a:r>
            <a:endParaRPr lang="en-US" sz="1600" noProof="1"/>
          </a:p>
        </p:txBody>
      </p:sp>
      <p:sp>
        <p:nvSpPr>
          <p:cNvPr id="26" name="cls-ex2"/>
          <p:cNvSpPr/>
          <p:nvPr/>
        </p:nvSpPr>
        <p:spPr>
          <a:xfrm>
            <a:off x="2552700" y="4089400"/>
            <a:ext cx="1651000" cy="60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1B1B1E"/>
            </a:solidFill>
          </a:ln>
        </p:spPr>
      </p:sp>
      <p:sp>
        <p:nvSpPr>
          <p:cNvPr id="27" name="cls-ex2-text"/>
          <p:cNvSpPr txBox="1"/>
          <p:nvPr/>
        </p:nvSpPr>
        <p:spPr>
          <a:xfrm>
            <a:off x="2552700" y="4089400"/>
            <a:ext cx="1651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04040"/>
                </a:solidFill>
                <a:latin typeface="微软雅黑"/>
                <a:ea typeface="微软雅黑"/>
              </a:rPr>
              <a:t>典型示例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750" noProof="1" b="1">
                <a:solidFill>
                  <a:srgbClr val="262626"/>
                </a:solidFill>
                <a:latin typeface="微软雅黑"/>
                <a:ea typeface="微软雅黑"/>
              </a:rPr>
              <a:t>Relu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404040"/>
                </a:solidFill>
                <a:latin typeface="微软雅黑"/>
                <a:ea typeface="微软雅黑"/>
              </a:rPr>
              <a:t>激活类 / 逐元素计算</a:t>
            </a:r>
            <a:endParaRPr lang="en-US" sz="1600" noProof="1"/>
          </a:p>
        </p:txBody>
      </p:sp>
      <p:sp>
        <p:nvSpPr>
          <p:cNvPr id="28" name="cls-ex3"/>
          <p:cNvSpPr/>
          <p:nvPr/>
        </p:nvSpPr>
        <p:spPr>
          <a:xfrm>
            <a:off x="4457700" y="4089400"/>
            <a:ext cx="1651000" cy="60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1B1B1E"/>
            </a:solidFill>
          </a:ln>
        </p:spPr>
      </p:sp>
      <p:sp>
        <p:nvSpPr>
          <p:cNvPr id="29" name="cls-ex3-text"/>
          <p:cNvSpPr txBox="1"/>
          <p:nvPr/>
        </p:nvSpPr>
        <p:spPr>
          <a:xfrm>
            <a:off x="4457700" y="4089400"/>
            <a:ext cx="1651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04040"/>
                </a:solidFill>
                <a:latin typeface="微软雅黑"/>
                <a:ea typeface="微软雅黑"/>
              </a:rPr>
              <a:t>典型示例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750" noProof="1" b="1">
                <a:solidFill>
                  <a:srgbClr val="262626"/>
                </a:solidFill>
                <a:latin typeface="微软雅黑"/>
                <a:ea typeface="微软雅黑"/>
              </a:rPr>
              <a:t>FlashAttention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404040"/>
                </a:solidFill>
                <a:latin typeface="微软雅黑"/>
                <a:ea typeface="微软雅黑"/>
              </a:rPr>
              <a:t>含反量化 BatchMatMul</a:t>
            </a:r>
            <a:endParaRPr lang="en-US" sz="1600" noProof="1"/>
          </a:p>
        </p:txBody>
      </p:sp>
      <p:sp>
        <p:nvSpPr>
          <p:cNvPr id="30" name="cls-ex3-hl"/>
          <p:cNvSpPr/>
          <p:nvPr/>
        </p:nvSpPr>
        <p:spPr>
          <a:xfrm>
            <a:off x="4381500" y="4013200"/>
            <a:ext cx="1803400" cy="7620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31" name="cls-note1"/>
          <p:cNvSpPr txBox="1"/>
          <p:nvPr/>
        </p:nvSpPr>
        <p:spPr>
          <a:xfrm>
            <a:off x="647700" y="48768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30000"/>
              </a:lnSpc>
            </a:pPr>
            <a:r>
              <a:rPr lang="en-US" sz="650" noProof="1">
                <a:solidFill>
                  <a:srgbClr val="737373"/>
                </a:solidFill>
                <a:latin typeface="微软雅黑"/>
                <a:ea typeface="微软雅黑"/>
              </a:rPr>
              <a:t>计算密集，吃 CUBE 算力</a:t>
            </a:r>
            <a:endParaRPr lang="en-US" sz="1600" noProof="1"/>
          </a:p>
        </p:txBody>
      </p:sp>
      <p:sp>
        <p:nvSpPr>
          <p:cNvPr id="32" name="cls-note2"/>
          <p:cNvSpPr txBox="1"/>
          <p:nvPr/>
        </p:nvSpPr>
        <p:spPr>
          <a:xfrm>
            <a:off x="2552700" y="48768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30000"/>
              </a:lnSpc>
            </a:pPr>
            <a:r>
              <a:rPr lang="en-US" sz="650" noProof="1">
                <a:solidFill>
                  <a:srgbClr val="737373"/>
                </a:solidFill>
                <a:latin typeface="微软雅黑"/>
                <a:ea typeface="微软雅黑"/>
              </a:rPr>
              <a:t>访存密集，吃带宽</a:t>
            </a:r>
            <a:endParaRPr lang="en-US" sz="1600" noProof="1"/>
          </a:p>
        </p:txBody>
      </p:sp>
      <p:sp>
        <p:nvSpPr>
          <p:cNvPr id="33" name="cls-note3"/>
          <p:cNvSpPr txBox="1"/>
          <p:nvPr/>
        </p:nvSpPr>
        <p:spPr>
          <a:xfrm>
            <a:off x="4457700" y="48768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30000"/>
              </a:lnSpc>
            </a:pPr>
            <a:r>
              <a:rPr lang="en-US" sz="650" noProof="1">
                <a:solidFill>
                  <a:srgbClr val="737373"/>
                </a:solidFill>
                <a:latin typeface="微软雅黑"/>
                <a:ea typeface="微软雅黑"/>
              </a:rPr>
              <a:t>核内流水编排是关键</a:t>
            </a:r>
            <a:endParaRPr lang="en-US" sz="1600" noProof="1"/>
          </a:p>
        </p:txBody>
      </p:sp>
      <p:sp>
        <p:nvSpPr>
          <p:cNvPr id="34" name="param-label"/>
          <p:cNvSpPr txBox="1"/>
          <p:nvPr/>
        </p:nvSpPr>
        <p:spPr>
          <a:xfrm>
            <a:off x="6197600" y="2286000"/>
            <a:ext cx="4318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三类算子对比</a:t>
            </a:r>
            <a:endParaRPr lang="en-US" sz="1200" noProof="1"/>
          </a:p>
        </p:txBody>
      </p:sp>
      <p:graphicFrame>
        <p:nvGraphicFramePr>
          <p:cNvPr id="35" name="param-table"/>
          <p:cNvGraphicFramePr>
            <a:graphicFrameLocks noGrp="1"/>
          </p:cNvGraphicFramePr>
          <p:nvPr/>
        </p:nvGraphicFramePr>
        <p:xfrm>
          <a:off x="6197600" y="2641600"/>
          <a:ext cx="5537200" cy="2743200"/>
        </p:xfrm>
        <a:graphic>
          <a:graphicData uri="http://schemas.openxmlformats.org/drawingml/2006/table">
            <a:tbl>
              <a:tblPr/>
              <a:tblGrid>
                <a:gridCol w="1052068"/>
                <a:gridCol w="1107440"/>
                <a:gridCol w="1605788"/>
                <a:gridCol w="1771904"/>
              </a:tblGrid>
              <a:tr h="35661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类别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计算单元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典型算子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计算特征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79552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Cube 算子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仅 Cube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MatMul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纯矩阵计算，GEMM 形态，计算密集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79552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Vector 算子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仅 Vector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Relu 等激活类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逐元素 / 向量计算，访存密集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79552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Mix 融合算子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Cube + Vector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FA、含反量化 BatchMatMul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多单元协同，核内流水编排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6" name="param-note"/>
          <p:cNvSpPr txBox="1"/>
          <p:nvPr/>
        </p:nvSpPr>
        <p:spPr>
          <a:xfrm>
            <a:off x="6197600" y="5461000"/>
            <a:ext cx="5537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注：判别技巧 —— 算子含多种计算形态（如矩阵乘 + 反量化 / softmax）时，一般归为 Mix 融合算子。</a:t>
            </a:r>
            <a:endParaRPr lang="en-US" sz="750" noProof="1"/>
          </a:p>
        </p:txBody>
      </p:sp>
      <p:sp>
        <p:nvSpPr>
          <p:cNvPr id="37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FA 作为 Mix 融合算子的开发启示</a:t>
            </a:r>
            <a:endParaRPr lang="en-US" sz="1200" noProof="1"/>
          </a:p>
        </p:txBody>
      </p:sp>
      <p:sp>
        <p:nvSpPr>
          <p:cNvPr id="38" name="dev-bullets"/>
          <p:cNvSpPr txBox="1"/>
          <p:nvPr/>
        </p:nvSpPr>
        <p:spPr>
          <a:xfrm>
            <a:off x="558800" y="59182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归属判断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：FA 同时含矩阵乘（QK</a:t>
            </a:r>
            <a:r>
              <a:rPr lang="en-US" sz="800" noProof="1" baseline="30000">
                <a:solidFill>
                  <a:srgbClr val="262626"/>
                </a:solidFill>
                <a:latin typeface="微软雅黑"/>
                <a:ea typeface="微软雅黑"/>
              </a:rPr>
              <a:t>⊤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、PV）与 softmax 等向量计算 → 典型 Mix 融合算子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融合动因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：Cube 与 Vector 在核内协同，中间结果驻留片上（L1 / UB），避免显存往返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代码结构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：分类决定 kernel 组织方式 —— Cube 侧（MM1 / MM2）与 Vector 侧（VF 指令、Vector1 / Vector2）分别实现、再统一编排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性能抓手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：融合算子的收益来自 计算-搬运重叠 + Cube/Vector 异构流水，是 tiling 与 kernel 设计的共同目标</a:t>
            </a:r>
            <a:endParaRPr lang="en-US" sz="8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资料来源：《从零构建FA算子》课程资料整理 · 第二章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Kernel 侧实现：SPMD 多核并行与流水线重叠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定位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：算子中技术含量最高的部分 —— 依据 tiling data 与 tiling key 完成高性能计算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泛化性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：支持任意 shape（seq len 1~128k、head 数 1~512），且各场景下保持高性能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SPMD 模式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：24 核运行同一程序、处理不同数据（Single Program, Multiple Data），实现多核并行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流水线并行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：搬入 → 计算 → 搬出三级流水存在依赖，但可与下一批数据的搬运重叠（double buffering），掩盖搬运开销</a:t>
            </a:r>
            <a:endParaRPr lang="en-US" sz="900" noProof="1"/>
          </a:p>
        </p:txBody>
      </p:sp>
      <p:sp>
        <p:nvSpPr>
          <p:cNvPr id="8" name="pipe-label"/>
          <p:cNvSpPr txBox="1"/>
          <p:nvPr/>
        </p:nvSpPr>
        <p:spPr>
          <a:xfrm>
            <a:off x="5588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Kernel 三级流水线与批间重叠</a:t>
            </a:r>
            <a:endParaRPr lang="en-US" sz="1200" noProof="1"/>
          </a:p>
        </p:txBody>
      </p:sp>
      <p:sp>
        <p:nvSpPr>
          <p:cNvPr id="9" name="legend-box1"/>
          <p:cNvSpPr/>
          <p:nvPr/>
        </p:nvSpPr>
        <p:spPr>
          <a:xfrm>
            <a:off x="3810000" y="2324100"/>
            <a:ext cx="127000" cy="127000"/>
          </a:xfrm>
          <a:prstGeom prst="rect">
            <a:avLst/>
          </a:prstGeom>
          <a:solidFill>
            <a:srgbClr val="F6D2CE"/>
          </a:solidFill>
          <a:ln w="6350">
            <a:solidFill>
              <a:srgbClr val="1B1B1E"/>
            </a:solidFill>
          </a:ln>
        </p:spPr>
      </p:sp>
      <p:sp>
        <p:nvSpPr>
          <p:cNvPr id="10" name="legend-text1"/>
          <p:cNvSpPr txBox="1"/>
          <p:nvPr/>
        </p:nvSpPr>
        <p:spPr>
          <a:xfrm>
            <a:off x="3987800" y="22860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搬入</a:t>
            </a:r>
            <a:endParaRPr lang="en-US" sz="800" noProof="1"/>
          </a:p>
        </p:txBody>
      </p:sp>
      <p:sp>
        <p:nvSpPr>
          <p:cNvPr id="11" name="legend-box2"/>
          <p:cNvSpPr/>
          <p:nvPr/>
        </p:nvSpPr>
        <p:spPr>
          <a:xfrm>
            <a:off x="4445000" y="2324100"/>
            <a:ext cx="127000" cy="127000"/>
          </a:xfrm>
          <a:prstGeom prst="rect">
            <a:avLst/>
          </a:prstGeom>
          <a:solidFill>
            <a:srgbClr val="CBE6CF"/>
          </a:solidFill>
          <a:ln w="6350">
            <a:solidFill>
              <a:srgbClr val="1B1B1E"/>
            </a:solidFill>
          </a:ln>
        </p:spPr>
      </p:sp>
      <p:sp>
        <p:nvSpPr>
          <p:cNvPr id="12" name="legend-text2"/>
          <p:cNvSpPr txBox="1"/>
          <p:nvPr/>
        </p:nvSpPr>
        <p:spPr>
          <a:xfrm>
            <a:off x="4622800" y="22860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计算</a:t>
            </a:r>
            <a:endParaRPr lang="en-US" sz="800" noProof="1"/>
          </a:p>
        </p:txBody>
      </p:sp>
      <p:sp>
        <p:nvSpPr>
          <p:cNvPr id="13" name="legend-box3"/>
          <p:cNvSpPr/>
          <p:nvPr/>
        </p:nvSpPr>
        <p:spPr>
          <a:xfrm>
            <a:off x="5080000" y="2324100"/>
            <a:ext cx="127000" cy="127000"/>
          </a:xfrm>
          <a:prstGeom prst="rect">
            <a:avLst/>
          </a:prstGeom>
          <a:solidFill>
            <a:srgbClr val="C8DCF4"/>
          </a:solidFill>
          <a:ln w="6350">
            <a:solidFill>
              <a:srgbClr val="1B1B1E"/>
            </a:solidFill>
          </a:ln>
        </p:spPr>
      </p:sp>
      <p:sp>
        <p:nvSpPr>
          <p:cNvPr id="14" name="legend-text3"/>
          <p:cNvSpPr txBox="1"/>
          <p:nvPr/>
        </p:nvSpPr>
        <p:spPr>
          <a:xfrm>
            <a:off x="5257800" y="2286000"/>
            <a:ext cx="711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搬出</a:t>
            </a:r>
            <a:endParaRPr lang="en-US" sz="800" noProof="1"/>
          </a:p>
        </p:txBody>
      </p:sp>
      <p:sp>
        <p:nvSpPr>
          <p:cNvPr id="15" name="lane-label1"/>
          <p:cNvSpPr txBox="1"/>
          <p:nvPr/>
        </p:nvSpPr>
        <p:spPr>
          <a:xfrm>
            <a:off x="609600" y="2743200"/>
            <a:ext cx="1092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262626"/>
                </a:solidFill>
                <a:latin typeface="微软雅黑"/>
                <a:ea typeface="微软雅黑"/>
              </a:rPr>
              <a:t>搬入（MTE）</a:t>
            </a:r>
            <a:endParaRPr lang="en-US" sz="1600" noProof="1"/>
          </a:p>
        </p:txBody>
      </p:sp>
      <p:sp>
        <p:nvSpPr>
          <p:cNvPr id="16" name="lane-label2"/>
          <p:cNvSpPr txBox="1"/>
          <p:nvPr/>
        </p:nvSpPr>
        <p:spPr>
          <a:xfrm>
            <a:off x="609600" y="3403600"/>
            <a:ext cx="1092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262626"/>
                </a:solidFill>
                <a:latin typeface="微软雅黑"/>
                <a:ea typeface="微软雅黑"/>
              </a:rPr>
              <a:t>计算（Cube/Vec）</a:t>
            </a:r>
            <a:endParaRPr lang="en-US" sz="1600" noProof="1"/>
          </a:p>
        </p:txBody>
      </p:sp>
      <p:sp>
        <p:nvSpPr>
          <p:cNvPr id="17" name="lane-label3"/>
          <p:cNvSpPr txBox="1"/>
          <p:nvPr/>
        </p:nvSpPr>
        <p:spPr>
          <a:xfrm>
            <a:off x="609600" y="4064000"/>
            <a:ext cx="1092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262626"/>
                </a:solidFill>
                <a:latin typeface="微软雅黑"/>
                <a:ea typeface="微软雅黑"/>
              </a:rPr>
              <a:t>搬出（MTE）</a:t>
            </a:r>
            <a:endParaRPr lang="en-US" sz="1600" noProof="1"/>
          </a:p>
        </p:txBody>
      </p:sp>
      <p:sp>
        <p:nvSpPr>
          <p:cNvPr id="18" name="blk-d0"/>
          <p:cNvSpPr/>
          <p:nvPr/>
        </p:nvSpPr>
        <p:spPr>
          <a:xfrm>
            <a:off x="1778000" y="2743200"/>
            <a:ext cx="965200" cy="304800"/>
          </a:xfrm>
          <a:prstGeom prst="rect">
            <a:avLst/>
          </a:prstGeom>
          <a:solidFill>
            <a:srgbClr val="F6D2CE"/>
          </a:solidFill>
          <a:ln w="6350">
            <a:solidFill>
              <a:srgbClr val="1B1B1E"/>
            </a:solidFill>
          </a:ln>
        </p:spPr>
      </p:sp>
      <p:sp>
        <p:nvSpPr>
          <p:cNvPr id="19" name="blk-d0-t"/>
          <p:cNvSpPr txBox="1"/>
          <p:nvPr/>
        </p:nvSpPr>
        <p:spPr>
          <a:xfrm>
            <a:off x="1778000" y="2743200"/>
            <a:ext cx="965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262626"/>
                </a:solidFill>
                <a:latin typeface="微软雅黑"/>
                <a:ea typeface="微软雅黑"/>
              </a:rPr>
              <a:t>批次 0 搬入</a:t>
            </a:r>
            <a:endParaRPr lang="en-US" sz="1600" noProof="1"/>
          </a:p>
        </p:txBody>
      </p:sp>
      <p:sp>
        <p:nvSpPr>
          <p:cNvPr id="20" name="blk-d1"/>
          <p:cNvSpPr/>
          <p:nvPr/>
        </p:nvSpPr>
        <p:spPr>
          <a:xfrm>
            <a:off x="2832100" y="2743200"/>
            <a:ext cx="965200" cy="304800"/>
          </a:xfrm>
          <a:prstGeom prst="rect">
            <a:avLst/>
          </a:prstGeom>
          <a:solidFill>
            <a:srgbClr val="F6D2CE"/>
          </a:solidFill>
          <a:ln w="6350">
            <a:solidFill>
              <a:srgbClr val="1B1B1E"/>
            </a:solidFill>
          </a:ln>
        </p:spPr>
      </p:sp>
      <p:sp>
        <p:nvSpPr>
          <p:cNvPr id="21" name="blk-d1-t"/>
          <p:cNvSpPr txBox="1"/>
          <p:nvPr/>
        </p:nvSpPr>
        <p:spPr>
          <a:xfrm>
            <a:off x="2832100" y="2743200"/>
            <a:ext cx="965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262626"/>
                </a:solidFill>
                <a:latin typeface="微软雅黑"/>
                <a:ea typeface="微软雅黑"/>
              </a:rPr>
              <a:t>批次 1 搬入</a:t>
            </a:r>
            <a:endParaRPr lang="en-US" sz="1600" noProof="1"/>
          </a:p>
        </p:txBody>
      </p:sp>
      <p:sp>
        <p:nvSpPr>
          <p:cNvPr id="22" name="blk-d2"/>
          <p:cNvSpPr/>
          <p:nvPr/>
        </p:nvSpPr>
        <p:spPr>
          <a:xfrm>
            <a:off x="3886200" y="2743200"/>
            <a:ext cx="965200" cy="304800"/>
          </a:xfrm>
          <a:prstGeom prst="rect">
            <a:avLst/>
          </a:prstGeom>
          <a:solidFill>
            <a:srgbClr val="F6D2CE"/>
          </a:solidFill>
          <a:ln w="6350">
            <a:solidFill>
              <a:srgbClr val="1B1B1E"/>
            </a:solidFill>
          </a:ln>
        </p:spPr>
      </p:sp>
      <p:sp>
        <p:nvSpPr>
          <p:cNvPr id="23" name="blk-d2-t"/>
          <p:cNvSpPr txBox="1"/>
          <p:nvPr/>
        </p:nvSpPr>
        <p:spPr>
          <a:xfrm>
            <a:off x="3886200" y="2743200"/>
            <a:ext cx="965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262626"/>
                </a:solidFill>
                <a:latin typeface="微软雅黑"/>
                <a:ea typeface="微软雅黑"/>
              </a:rPr>
              <a:t>批次 2 搬入</a:t>
            </a:r>
            <a:endParaRPr lang="en-US" sz="1600" noProof="1"/>
          </a:p>
        </p:txBody>
      </p:sp>
      <p:sp>
        <p:nvSpPr>
          <p:cNvPr id="24" name="blk-d3"/>
          <p:cNvSpPr/>
          <p:nvPr/>
        </p:nvSpPr>
        <p:spPr>
          <a:xfrm>
            <a:off x="4940300" y="2743200"/>
            <a:ext cx="965200" cy="304800"/>
          </a:xfrm>
          <a:prstGeom prst="rect">
            <a:avLst/>
          </a:prstGeom>
          <a:solidFill>
            <a:srgbClr val="F6D2CE"/>
          </a:solidFill>
          <a:ln w="6350">
            <a:solidFill>
              <a:srgbClr val="1B1B1E"/>
            </a:solidFill>
          </a:ln>
        </p:spPr>
      </p:sp>
      <p:sp>
        <p:nvSpPr>
          <p:cNvPr id="25" name="blk-d3-t"/>
          <p:cNvSpPr txBox="1"/>
          <p:nvPr/>
        </p:nvSpPr>
        <p:spPr>
          <a:xfrm>
            <a:off x="4940300" y="2743200"/>
            <a:ext cx="965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262626"/>
                </a:solidFill>
                <a:latin typeface="微软雅黑"/>
                <a:ea typeface="微软雅黑"/>
              </a:rPr>
              <a:t>批次 3 搬入</a:t>
            </a:r>
            <a:endParaRPr lang="en-US" sz="1600" noProof="1"/>
          </a:p>
        </p:txBody>
      </p:sp>
      <p:sp>
        <p:nvSpPr>
          <p:cNvPr id="26" name="blk-c0"/>
          <p:cNvSpPr/>
          <p:nvPr/>
        </p:nvSpPr>
        <p:spPr>
          <a:xfrm>
            <a:off x="2832100" y="3403600"/>
            <a:ext cx="965200" cy="304800"/>
          </a:xfrm>
          <a:prstGeom prst="rect">
            <a:avLst/>
          </a:prstGeom>
          <a:solidFill>
            <a:srgbClr val="CBE6CF"/>
          </a:solidFill>
          <a:ln w="6350">
            <a:solidFill>
              <a:srgbClr val="1B1B1E"/>
            </a:solidFill>
          </a:ln>
        </p:spPr>
      </p:sp>
      <p:sp>
        <p:nvSpPr>
          <p:cNvPr id="27" name="blk-c0-t"/>
          <p:cNvSpPr txBox="1"/>
          <p:nvPr/>
        </p:nvSpPr>
        <p:spPr>
          <a:xfrm>
            <a:off x="2832100" y="3403600"/>
            <a:ext cx="965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262626"/>
                </a:solidFill>
                <a:latin typeface="微软雅黑"/>
                <a:ea typeface="微软雅黑"/>
              </a:rPr>
              <a:t>批次 0 计算</a:t>
            </a:r>
            <a:endParaRPr lang="en-US" sz="1600" noProof="1"/>
          </a:p>
        </p:txBody>
      </p:sp>
      <p:sp>
        <p:nvSpPr>
          <p:cNvPr id="28" name="blk-c1"/>
          <p:cNvSpPr/>
          <p:nvPr/>
        </p:nvSpPr>
        <p:spPr>
          <a:xfrm>
            <a:off x="3886200" y="3403600"/>
            <a:ext cx="965200" cy="304800"/>
          </a:xfrm>
          <a:prstGeom prst="rect">
            <a:avLst/>
          </a:prstGeom>
          <a:solidFill>
            <a:srgbClr val="CBE6CF"/>
          </a:solidFill>
          <a:ln w="6350">
            <a:solidFill>
              <a:srgbClr val="1B1B1E"/>
            </a:solidFill>
          </a:ln>
        </p:spPr>
      </p:sp>
      <p:sp>
        <p:nvSpPr>
          <p:cNvPr id="29" name="blk-c1-t"/>
          <p:cNvSpPr txBox="1"/>
          <p:nvPr/>
        </p:nvSpPr>
        <p:spPr>
          <a:xfrm>
            <a:off x="3886200" y="3403600"/>
            <a:ext cx="965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262626"/>
                </a:solidFill>
                <a:latin typeface="微软雅黑"/>
                <a:ea typeface="微软雅黑"/>
              </a:rPr>
              <a:t>批次 1 计算</a:t>
            </a:r>
            <a:endParaRPr lang="en-US" sz="1600" noProof="1"/>
          </a:p>
        </p:txBody>
      </p:sp>
      <p:sp>
        <p:nvSpPr>
          <p:cNvPr id="30" name="blk-c2"/>
          <p:cNvSpPr/>
          <p:nvPr/>
        </p:nvSpPr>
        <p:spPr>
          <a:xfrm>
            <a:off x="4940300" y="3403600"/>
            <a:ext cx="965200" cy="304800"/>
          </a:xfrm>
          <a:prstGeom prst="rect">
            <a:avLst/>
          </a:prstGeom>
          <a:solidFill>
            <a:srgbClr val="CBE6CF"/>
          </a:solidFill>
          <a:ln w="6350">
            <a:solidFill>
              <a:srgbClr val="1B1B1E"/>
            </a:solidFill>
          </a:ln>
        </p:spPr>
      </p:sp>
      <p:sp>
        <p:nvSpPr>
          <p:cNvPr id="31" name="blk-c2-t"/>
          <p:cNvSpPr txBox="1"/>
          <p:nvPr/>
        </p:nvSpPr>
        <p:spPr>
          <a:xfrm>
            <a:off x="4940300" y="3403600"/>
            <a:ext cx="965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262626"/>
                </a:solidFill>
                <a:latin typeface="微软雅黑"/>
                <a:ea typeface="微软雅黑"/>
              </a:rPr>
              <a:t>批次 2 计算</a:t>
            </a:r>
            <a:endParaRPr lang="en-US" sz="1600" noProof="1"/>
          </a:p>
        </p:txBody>
      </p:sp>
      <p:sp>
        <p:nvSpPr>
          <p:cNvPr id="32" name="blk-o0"/>
          <p:cNvSpPr/>
          <p:nvPr/>
        </p:nvSpPr>
        <p:spPr>
          <a:xfrm>
            <a:off x="3886200" y="4064000"/>
            <a:ext cx="965200" cy="304800"/>
          </a:xfrm>
          <a:prstGeom prst="rect">
            <a:avLst/>
          </a:prstGeom>
          <a:solidFill>
            <a:srgbClr val="C8DCF4"/>
          </a:solidFill>
          <a:ln w="6350">
            <a:solidFill>
              <a:srgbClr val="1B1B1E"/>
            </a:solidFill>
          </a:ln>
        </p:spPr>
      </p:sp>
      <p:sp>
        <p:nvSpPr>
          <p:cNvPr id="33" name="blk-o0-t"/>
          <p:cNvSpPr txBox="1"/>
          <p:nvPr/>
        </p:nvSpPr>
        <p:spPr>
          <a:xfrm>
            <a:off x="3886200" y="4064000"/>
            <a:ext cx="965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262626"/>
                </a:solidFill>
                <a:latin typeface="微软雅黑"/>
                <a:ea typeface="微软雅黑"/>
              </a:rPr>
              <a:t>批次 0 搬出</a:t>
            </a:r>
            <a:endParaRPr lang="en-US" sz="1600" noProof="1"/>
          </a:p>
        </p:txBody>
      </p:sp>
      <p:sp>
        <p:nvSpPr>
          <p:cNvPr id="34" name="blk-o1"/>
          <p:cNvSpPr/>
          <p:nvPr/>
        </p:nvSpPr>
        <p:spPr>
          <a:xfrm>
            <a:off x="4940300" y="4064000"/>
            <a:ext cx="965200" cy="304800"/>
          </a:xfrm>
          <a:prstGeom prst="rect">
            <a:avLst/>
          </a:prstGeom>
          <a:solidFill>
            <a:srgbClr val="C8DCF4"/>
          </a:solidFill>
          <a:ln w="6350">
            <a:solidFill>
              <a:srgbClr val="1B1B1E"/>
            </a:solidFill>
          </a:ln>
        </p:spPr>
      </p:sp>
      <p:sp>
        <p:nvSpPr>
          <p:cNvPr id="35" name="blk-o1-t"/>
          <p:cNvSpPr txBox="1"/>
          <p:nvPr/>
        </p:nvSpPr>
        <p:spPr>
          <a:xfrm>
            <a:off x="4940300" y="4064000"/>
            <a:ext cx="965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262626"/>
                </a:solidFill>
                <a:latin typeface="微软雅黑"/>
                <a:ea typeface="微软雅黑"/>
              </a:rPr>
              <a:t>批次 1 搬出</a:t>
            </a:r>
            <a:endParaRPr lang="en-US" sz="1600" noProof="1"/>
          </a:p>
        </p:txBody>
      </p:sp>
      <p:sp>
        <p:nvSpPr>
          <p:cNvPr id="36" name="dep-a1"/>
          <p:cNvSpPr/>
          <p:nvPr>
            <p:extLst>
              <p:ext uri="{F5677B7D-0D2A-4D9B-9A5C-6D8D7D0E5A5D}">
                <pptd:line encoding="base64url">eyJ2aWV3Qm94IjpbMiwyOF0sInBvaW50cyI6IjEsMSAxLDI3IiwiY3VydmUiOiJzaGFycCJ9</pptd:line>
              </p:ext>
            </p:extLst>
          </p:nvPr>
        </p:nvSpPr>
        <p:spPr>
          <a:xfrm>
            <a:off x="3302000" y="3048000"/>
            <a:ext cx="25400" cy="355600"/>
          </a:xfrm>
          <a:custGeom>
            <a:avLst/>
            <a:gdLst/>
            <a:ahLst/>
            <a:cxnLst/>
            <a:rect l="l" t="t" r="r" b="b"/>
            <a:pathLst>
              <a:path w="2" h="28">
                <a:moveTo>
                  <a:pt x="1" y="1"/>
                </a:moveTo>
                <a:lnTo>
                  <a:pt x="1" y="27"/>
                </a:lnTo>
              </a:path>
            </a:pathLst>
          </a:custGeom>
          <a:noFill/>
          <a:ln w="9525">
            <a:solidFill>
              <a:srgbClr val="C00000"/>
            </a:solidFill>
            <a:tailEnd type="arrow"/>
          </a:ln>
        </p:spPr>
      </p:sp>
      <p:sp>
        <p:nvSpPr>
          <p:cNvPr id="37" name="dep-a2"/>
          <p:cNvSpPr/>
          <p:nvPr>
            <p:extLst>
              <p:ext uri="{F5677B7D-0D2A-4D9B-9A5C-6D8D7D0E5A5D}">
                <pptd:line encoding="base64url">eyJ2aWV3Qm94IjpbMiwyOF0sInBvaW50cyI6IjEsMSAxLDI3IiwiY3VydmUiOiJzaGFycCJ9</pptd:line>
              </p:ext>
            </p:extLst>
          </p:nvPr>
        </p:nvSpPr>
        <p:spPr>
          <a:xfrm>
            <a:off x="4356100" y="3048000"/>
            <a:ext cx="25400" cy="355600"/>
          </a:xfrm>
          <a:custGeom>
            <a:avLst/>
            <a:gdLst/>
            <a:ahLst/>
            <a:cxnLst/>
            <a:rect l="l" t="t" r="r" b="b"/>
            <a:pathLst>
              <a:path w="2" h="28">
                <a:moveTo>
                  <a:pt x="1" y="1"/>
                </a:moveTo>
                <a:lnTo>
                  <a:pt x="1" y="27"/>
                </a:lnTo>
              </a:path>
            </a:pathLst>
          </a:custGeom>
          <a:noFill/>
          <a:ln w="9525">
            <a:solidFill>
              <a:srgbClr val="C00000"/>
            </a:solidFill>
            <a:tailEnd type="arrow"/>
          </a:ln>
        </p:spPr>
      </p:sp>
      <p:sp>
        <p:nvSpPr>
          <p:cNvPr id="38" name="dep-b1"/>
          <p:cNvSpPr/>
          <p:nvPr>
            <p:extLst>
              <p:ext uri="{F5677B7D-0D2A-4D9B-9A5C-6D8D7D0E5A5D}">
                <pptd:line encoding="base64url">eyJ2aWV3Qm94IjpbMiwyOF0sInBvaW50cyI6IjEsMSAxLDI3IiwiY3VydmUiOiJzaGFycCJ9</pptd:line>
              </p:ext>
            </p:extLst>
          </p:nvPr>
        </p:nvSpPr>
        <p:spPr>
          <a:xfrm>
            <a:off x="4356100" y="3708400"/>
            <a:ext cx="25400" cy="355600"/>
          </a:xfrm>
          <a:custGeom>
            <a:avLst/>
            <a:gdLst/>
            <a:ahLst/>
            <a:cxnLst/>
            <a:rect l="l" t="t" r="r" b="b"/>
            <a:pathLst>
              <a:path w="2" h="28">
                <a:moveTo>
                  <a:pt x="1" y="1"/>
                </a:moveTo>
                <a:lnTo>
                  <a:pt x="1" y="27"/>
                </a:lnTo>
              </a:path>
            </a:pathLst>
          </a:custGeom>
          <a:noFill/>
          <a:ln w="9525">
            <a:solidFill>
              <a:srgbClr val="C00000"/>
            </a:solidFill>
            <a:tailEnd type="arrow"/>
          </a:ln>
        </p:spPr>
      </p:sp>
      <p:sp>
        <p:nvSpPr>
          <p:cNvPr id="39" name="dep-b2"/>
          <p:cNvSpPr/>
          <p:nvPr>
            <p:extLst>
              <p:ext uri="{F5677B7D-0D2A-4D9B-9A5C-6D8D7D0E5A5D}">
                <pptd:line encoding="base64url">eyJ2aWV3Qm94IjpbMiwyOF0sInBvaW50cyI6IjEsMSAxLDI3IiwiY3VydmUiOiJzaGFycCJ9</pptd:line>
              </p:ext>
            </p:extLst>
          </p:nvPr>
        </p:nvSpPr>
        <p:spPr>
          <a:xfrm>
            <a:off x="5410200" y="3708400"/>
            <a:ext cx="25400" cy="355600"/>
          </a:xfrm>
          <a:custGeom>
            <a:avLst/>
            <a:gdLst/>
            <a:ahLst/>
            <a:cxnLst/>
            <a:rect l="l" t="t" r="r" b="b"/>
            <a:pathLst>
              <a:path w="2" h="28">
                <a:moveTo>
                  <a:pt x="1" y="1"/>
                </a:moveTo>
                <a:lnTo>
                  <a:pt x="1" y="27"/>
                </a:lnTo>
              </a:path>
            </a:pathLst>
          </a:custGeom>
          <a:noFill/>
          <a:ln w="9525">
            <a:solidFill>
              <a:srgbClr val="C00000"/>
            </a:solidFill>
            <a:tailEnd type="arrow"/>
          </a:ln>
        </p:spPr>
      </p:sp>
      <p:sp>
        <p:nvSpPr>
          <p:cNvPr id="40" name="time-axis"/>
          <p:cNvSpPr/>
          <p:nvPr>
            <p:extLst>
              <p:ext uri="{F5677B7D-0D2A-4D9B-9A5C-6D8D7D0E5A5D}">
                <pptd:line encoding="base64url">eyJ2aWV3Qm94IjpbMzI1LDJdLCJwb2ludHMiOiIxLDEgMzI0LDEiLCJjdXJ2ZSI6InNoYXJwIn0</pptd:line>
              </p:ext>
            </p:extLst>
          </p:nvPr>
        </p:nvSpPr>
        <p:spPr>
          <a:xfrm>
            <a:off x="1778000" y="4470400"/>
            <a:ext cx="4127500" cy="25400"/>
          </a:xfrm>
          <a:custGeom>
            <a:avLst/>
            <a:gdLst/>
            <a:ahLst/>
            <a:cxnLst/>
            <a:rect l="l" t="t" r="r" b="b"/>
            <a:pathLst>
              <a:path w="325" h="2">
                <a:moveTo>
                  <a:pt x="1" y="1"/>
                </a:moveTo>
                <a:lnTo>
                  <a:pt x="324" y="1"/>
                </a:lnTo>
              </a:path>
            </a:pathLst>
          </a:custGeom>
          <a:noFill/>
          <a:ln w="9525">
            <a:solidFill>
              <a:srgbClr val="737373"/>
            </a:solidFill>
            <a:tailEnd type="arrow"/>
          </a:ln>
        </p:spPr>
      </p:sp>
      <p:sp>
        <p:nvSpPr>
          <p:cNvPr id="41" name="time-axis-t"/>
          <p:cNvSpPr txBox="1"/>
          <p:nvPr/>
        </p:nvSpPr>
        <p:spPr>
          <a:xfrm>
            <a:off x="5207000" y="45212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650" noProof="1">
                <a:solidFill>
                  <a:srgbClr val="737373"/>
                </a:solidFill>
                <a:latin typeface="微软雅黑"/>
                <a:ea typeface="微软雅黑"/>
              </a:rPr>
              <a:t>时间 →</a:t>
            </a:r>
            <a:endParaRPr lang="en-US" sz="1600" noProof="1"/>
          </a:p>
        </p:txBody>
      </p:sp>
      <p:sp>
        <p:nvSpPr>
          <p:cNvPr id="42" name="pipe-note"/>
          <p:cNvSpPr txBox="1"/>
          <p:nvPr/>
        </p:nvSpPr>
        <p:spPr>
          <a:xfrm>
            <a:off x="609600" y="4724400"/>
            <a:ext cx="5283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700" noProof="1" b="1">
                <a:solidFill>
                  <a:srgbClr val="595959"/>
                </a:solidFill>
                <a:latin typeface="微软雅黑"/>
                <a:ea typeface="微软雅黑"/>
              </a:rPr>
              <a:t>依赖关系</a:t>
            </a:r>
            <a:r>
              <a:rPr lang="en-US" sz="700" noProof="1">
                <a:solidFill>
                  <a:srgbClr val="595959"/>
                </a:solidFill>
                <a:latin typeface="微软雅黑"/>
                <a:ea typeface="微软雅黑"/>
              </a:rPr>
              <a:t>（红箭头）：计算必须等待搬入完成、搬出必须等待计算完成，避免使用脏数据。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lang="en-US" sz="700" noProof="1" b="1">
                <a:solidFill>
                  <a:srgbClr val="595959"/>
                </a:solidFill>
                <a:latin typeface="微软雅黑"/>
                <a:ea typeface="微软雅黑"/>
              </a:rPr>
              <a:t>重叠收益</a:t>
            </a:r>
            <a:r>
              <a:rPr lang="en-US" sz="700" noProof="1">
                <a:solidFill>
                  <a:srgbClr val="595959"/>
                </a:solidFill>
                <a:latin typeface="微软雅黑"/>
                <a:ea typeface="微软雅黑"/>
              </a:rPr>
              <a:t>：计算批次 i 的同时并行搬入批次 i+1（double buffering 思想），搬运开销被计算掩盖，整体吞吐接近纯计算上限。</a:t>
            </a:r>
            <a:endParaRPr lang="en-US" sz="1600" noProof="1"/>
          </a:p>
        </p:txBody>
      </p:sp>
      <p:sp>
        <p:nvSpPr>
          <p:cNvPr id="43" name="param-label"/>
          <p:cNvSpPr txBox="1"/>
          <p:nvPr/>
        </p:nvSpPr>
        <p:spPr>
          <a:xfrm>
            <a:off x="6197600" y="2286000"/>
            <a:ext cx="4318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Kernel 设计要素</a:t>
            </a:r>
            <a:endParaRPr lang="en-US" sz="1200" noProof="1"/>
          </a:p>
        </p:txBody>
      </p:sp>
      <p:graphicFrame>
        <p:nvGraphicFramePr>
          <p:cNvPr id="44" name="param-table"/>
          <p:cNvGraphicFramePr>
            <a:graphicFrameLocks noGrp="1"/>
          </p:cNvGraphicFramePr>
          <p:nvPr/>
        </p:nvGraphicFramePr>
        <p:xfrm>
          <a:off x="6197600" y="2641600"/>
          <a:ext cx="5537200" cy="2743200"/>
        </p:xfrm>
        <a:graphic>
          <a:graphicData uri="http://schemas.openxmlformats.org/drawingml/2006/table">
            <a:tbl>
              <a:tblPr/>
              <a:tblGrid>
                <a:gridCol w="1107440"/>
                <a:gridCol w="4429760"/>
              </a:tblGrid>
              <a:tr h="2743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要素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定位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依据 tiling data + tiling key 完成高性能计算，技术含量最高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泛化性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任意 shape：seq 1~128k、head 1~512，各场景保持高性能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并行模式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SPMD：24 核运行同一程序、处理不同数据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流水线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搬入 → 计算 → 搬出三级流水，批间重叠（double buffering）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接口形式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extern "C" 函数：host 侧可调用、在 device 上运行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必备入参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输入数据、输出地址、workspace、tiling data —— 四者缺一不可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5" name="param-note"/>
          <p:cNvSpPr txBox="1"/>
          <p:nvPr/>
        </p:nvSpPr>
        <p:spPr>
          <a:xfrm>
            <a:off x="6197600" y="5461000"/>
            <a:ext cx="5537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注：输入数据通常为 float / float16；tiling data 指导 kernel 如何进行切分与执行。</a:t>
            </a:r>
            <a:endParaRPr lang="en-US" sz="750" noProof="1"/>
          </a:p>
        </p:txBody>
      </p:sp>
      <p:sp>
        <p:nvSpPr>
          <p:cNvPr id="46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Kernel 开发要点：性能与正确性</a:t>
            </a:r>
            <a:endParaRPr lang="en-US" sz="1200" noProof="1"/>
          </a:p>
        </p:txBody>
      </p:sp>
      <p:sp>
        <p:nvSpPr>
          <p:cNvPr id="47" name="dev-bullets"/>
          <p:cNvSpPr txBox="1"/>
          <p:nvPr/>
        </p:nvSpPr>
        <p:spPr>
          <a:xfrm>
            <a:off x="558800" y="59182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设计目标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：高性能 + 泛化性强 —— 难点在高效利用多核架构与多条流水线并行，达到最优性能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数据依赖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：计算等待搬入完成、搬出等待计算完成，同步缺失会导致脏数据 / 结果错误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重叠手段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：计算第 i 批时并行搬入第 i+1 批（double buffering），是掩盖搬运开销的核心手段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分核切块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：核间切分（多核任务划分）与核内切块（片上 buffer 约束）共同决定 kernel 的循环结构</a:t>
            </a:r>
            <a:endParaRPr lang="en-US" sz="8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资料来源：《从零构建FA算子》课程资料整理 · 第三、四章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Tiling 侧实现：Host 侧切分、Tiling Key / Tiling Data 与负载均衡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运行位置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：Tiling 在 Host 侧（CPU）执行，产物 Tiling Key + Tiling Data 传给 Device 侧的 Kernel 使用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六大功能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：算子模板选择、多核切分、核间负载均衡、高阶 API 基本块选择、workspace 大小计算、Tiling Key 设置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两个关键要素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：Tiling Key 用于 kernel 模板/分支选择（编译期确定代码路径）；Tiling Data 为运行时切分参数（核间切分 + 核内切块）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分核策略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：负载均衡是重点 —— 把 batch × head × seq 等维度合理切到 24 个核上，避免部分核空闲</a:t>
            </a:r>
            <a:endParaRPr lang="en-US" sz="900" noProof="1"/>
          </a:p>
        </p:txBody>
      </p:sp>
      <p:sp>
        <p:nvSpPr>
          <p:cNvPr id="8" name="flow-label"/>
          <p:cNvSpPr txBox="1"/>
          <p:nvPr/>
        </p:nvSpPr>
        <p:spPr>
          <a:xfrm>
            <a:off x="558800" y="2286000"/>
            <a:ext cx="406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Tiling（Host）→ Kernel（Device）数据流</a:t>
            </a:r>
            <a:endParaRPr lang="en-US" sz="1200" noProof="1"/>
          </a:p>
        </p:txBody>
      </p:sp>
      <p:sp>
        <p:nvSpPr>
          <p:cNvPr id="9" name="host-band"/>
          <p:cNvSpPr/>
          <p:nvPr/>
        </p:nvSpPr>
        <p:spPr>
          <a:xfrm>
            <a:off x="711200" y="2616200"/>
            <a:ext cx="5029200" cy="12446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6350">
            <a:solidFill>
              <a:srgbClr val="737373"/>
            </a:solidFill>
            <a:prstDash val="dash"/>
          </a:ln>
        </p:spPr>
      </p:sp>
      <p:sp>
        <p:nvSpPr>
          <p:cNvPr id="10" name="host-band-label"/>
          <p:cNvSpPr txBox="1"/>
          <p:nvPr/>
        </p:nvSpPr>
        <p:spPr>
          <a:xfrm>
            <a:off x="838200" y="26670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650" noProof="1" b="1">
                <a:solidFill>
                  <a:srgbClr val="737373"/>
                </a:solidFill>
                <a:latin typeface="微软雅黑"/>
                <a:ea typeface="微软雅黑"/>
              </a:rPr>
              <a:t>Host 侧（CPU）</a:t>
            </a:r>
            <a:endParaRPr lang="en-US" sz="650" noProof="1"/>
          </a:p>
        </p:txBody>
      </p:sp>
      <p:sp>
        <p:nvSpPr>
          <p:cNvPr id="11" name="tiling-box"/>
          <p:cNvSpPr/>
          <p:nvPr/>
        </p:nvSpPr>
        <p:spPr>
          <a:xfrm>
            <a:off x="1219200" y="2895600"/>
            <a:ext cx="4013200" cy="787400"/>
          </a:xfrm>
          <a:prstGeom prst="roundRect">
            <a:avLst>
              <a:gd name="adj" fmla="val 10000"/>
            </a:avLst>
          </a:prstGeom>
          <a:solidFill>
            <a:srgbClr val="CBE6CF"/>
          </a:solidFill>
          <a:ln w="6350">
            <a:solidFill>
              <a:srgbClr val="1B1B1E"/>
            </a:solidFill>
          </a:ln>
        </p:spPr>
      </p:sp>
      <p:sp>
        <p:nvSpPr>
          <p:cNvPr id="12" name="tiling-box-text"/>
          <p:cNvSpPr txBox="1"/>
          <p:nvPr/>
        </p:nvSpPr>
        <p:spPr>
          <a:xfrm>
            <a:off x="1320800" y="2895600"/>
            <a:ext cx="3810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FA Tiling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404040"/>
                </a:solidFill>
                <a:latin typeface="微软雅黑"/>
                <a:ea typeface="微软雅黑"/>
              </a:rPr>
              <a:t>算子模板选择 / 多核切分 / 核间负载均衡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404040"/>
                </a:solidFill>
                <a:latin typeface="微软雅黑"/>
                <a:ea typeface="微软雅黑"/>
              </a:rPr>
              <a:t>基本块选择 / workspace 计算 / TilingKey 设置</a:t>
            </a:r>
            <a:endParaRPr lang="en-US" sz="1600" noProof="1"/>
          </a:p>
        </p:txBody>
      </p:sp>
      <p:sp>
        <p:nvSpPr>
          <p:cNvPr id="13" name="arrow-k"/>
          <p:cNvSpPr/>
          <p:nvPr>
            <p:extLst>
              <p:ext uri="{F5677B7D-0D2A-4D9B-9A5C-6D8D7D0E5A5D}">
                <pptd:line encoding="base64url">eyJ2aWV3Qm94IjpbMiw0MF0sInBvaW50cyI6IjEsMSAxLDM5IiwiY3VydmUiOiJzaGFycCJ9</pptd:line>
              </p:ext>
            </p:extLst>
          </p:nvPr>
        </p:nvSpPr>
        <p:spPr>
          <a:xfrm>
            <a:off x="2146300" y="3683000"/>
            <a:ext cx="25400" cy="508000"/>
          </a:xfrm>
          <a:custGeom>
            <a:avLst/>
            <a:gdLst/>
            <a:ahLst/>
            <a:cxnLst/>
            <a:rect l="l" t="t" r="r" b="b"/>
            <a:pathLst>
              <a:path w="2" h="40">
                <a:moveTo>
                  <a:pt x="1" y="1"/>
                </a:moveTo>
                <a:lnTo>
                  <a:pt x="1" y="39"/>
                </a:lnTo>
              </a:path>
            </a:pathLst>
          </a:custGeom>
          <a:noFill/>
          <a:ln w="12700">
            <a:solidFill>
              <a:srgbClr val="C00000"/>
            </a:solidFill>
            <a:tailEnd type="arrow"/>
          </a:ln>
        </p:spPr>
      </p:sp>
      <p:sp>
        <p:nvSpPr>
          <p:cNvPr id="14" name="arrow-k-label"/>
          <p:cNvSpPr txBox="1"/>
          <p:nvPr/>
        </p:nvSpPr>
        <p:spPr>
          <a:xfrm>
            <a:off x="914400" y="3784600"/>
            <a:ext cx="1193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>
              <a:lnSpc>
                <a:spcPct val="130000"/>
              </a:lnSpc>
            </a:pPr>
            <a:r>
              <a:rPr lang="en-US" sz="650" noProof="1" b="1">
                <a:solidFill>
                  <a:srgbClr val="C00000"/>
                </a:solidFill>
                <a:latin typeface="微软雅黑"/>
                <a:ea typeface="微软雅黑"/>
              </a:rPr>
              <a:t>Tiling Key</a:t>
            </a:r>
            <a:endParaRPr lang="en-US" sz="1600" noProof="1"/>
          </a:p>
          <a:p>
            <a:pPr algn="r">
              <a:lnSpc>
                <a:spcPct val="130000"/>
              </a:lnSpc>
            </a:pPr>
            <a:r>
              <a:rPr lang="en-US" sz="600" noProof="1">
                <a:solidFill>
                  <a:srgbClr val="737373"/>
                </a:solidFill>
                <a:latin typeface="微软雅黑"/>
                <a:ea typeface="微软雅黑"/>
              </a:rPr>
              <a:t>编译期确定代码路径</a:t>
            </a:r>
            <a:endParaRPr lang="en-US" sz="1600" noProof="1"/>
          </a:p>
        </p:txBody>
      </p:sp>
      <p:sp>
        <p:nvSpPr>
          <p:cNvPr id="15" name="arrow-d"/>
          <p:cNvSpPr/>
          <p:nvPr>
            <p:extLst>
              <p:ext uri="{F5677B7D-0D2A-4D9B-9A5C-6D8D7D0E5A5D}">
                <pptd:line encoding="base64url">eyJ2aWV3Qm94IjpbMiw0MF0sInBvaW50cyI6IjEsMSAxLDM5IiwiY3VydmUiOiJzaGFycCJ9</pptd:line>
              </p:ext>
            </p:extLst>
          </p:nvPr>
        </p:nvSpPr>
        <p:spPr>
          <a:xfrm>
            <a:off x="3670300" y="3683000"/>
            <a:ext cx="25400" cy="508000"/>
          </a:xfrm>
          <a:custGeom>
            <a:avLst/>
            <a:gdLst/>
            <a:ahLst/>
            <a:cxnLst/>
            <a:rect l="l" t="t" r="r" b="b"/>
            <a:pathLst>
              <a:path w="2" h="40">
                <a:moveTo>
                  <a:pt x="1" y="1"/>
                </a:moveTo>
                <a:lnTo>
                  <a:pt x="1" y="39"/>
                </a:lnTo>
              </a:path>
            </a:pathLst>
          </a:custGeom>
          <a:noFill/>
          <a:ln w="12700">
            <a:solidFill>
              <a:srgbClr val="C00000"/>
            </a:solidFill>
            <a:tailEnd type="arrow"/>
          </a:ln>
        </p:spPr>
      </p:sp>
      <p:sp>
        <p:nvSpPr>
          <p:cNvPr id="16" name="arrow-d-label"/>
          <p:cNvSpPr txBox="1"/>
          <p:nvPr/>
        </p:nvSpPr>
        <p:spPr>
          <a:xfrm>
            <a:off x="3746500" y="37846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650" noProof="1" b="1">
                <a:solidFill>
                  <a:srgbClr val="C00000"/>
                </a:solidFill>
                <a:latin typeface="微软雅黑"/>
                <a:ea typeface="微软雅黑"/>
              </a:rPr>
              <a:t>Tiling Data</a:t>
            </a:r>
            <a:endParaRPr lang="en-US" sz="1600" noProof="1"/>
          </a:p>
          <a:p>
            <a:pPr algn="l">
              <a:lnSpc>
                <a:spcPct val="130000"/>
              </a:lnSpc>
            </a:pPr>
            <a:r>
              <a:rPr lang="en-US" sz="600" noProof="1">
                <a:solidFill>
                  <a:srgbClr val="737373"/>
                </a:solidFill>
                <a:latin typeface="微软雅黑"/>
                <a:ea typeface="微软雅黑"/>
              </a:rPr>
              <a:t>运行时切分参数</a:t>
            </a:r>
            <a:endParaRPr lang="en-US" sz="1600" noProof="1"/>
          </a:p>
        </p:txBody>
      </p:sp>
      <p:sp>
        <p:nvSpPr>
          <p:cNvPr id="17" name="device-band"/>
          <p:cNvSpPr/>
          <p:nvPr/>
        </p:nvSpPr>
        <p:spPr>
          <a:xfrm>
            <a:off x="711200" y="4191000"/>
            <a:ext cx="5029200" cy="1219200"/>
          </a:xfrm>
          <a:prstGeom prst="roundRect">
            <a:avLst>
              <a:gd name="adj" fmla="val 8000"/>
            </a:avLst>
          </a:prstGeom>
          <a:solidFill>
            <a:srgbClr val="FDF0EE"/>
          </a:solidFill>
          <a:ln w="6350">
            <a:solidFill>
              <a:srgbClr val="737373"/>
            </a:solidFill>
            <a:prstDash val="dash"/>
          </a:ln>
        </p:spPr>
      </p:sp>
      <p:sp>
        <p:nvSpPr>
          <p:cNvPr id="18" name="device-band-label"/>
          <p:cNvSpPr txBox="1"/>
          <p:nvPr/>
        </p:nvSpPr>
        <p:spPr>
          <a:xfrm>
            <a:off x="838200" y="4241800"/>
            <a:ext cx="177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650" noProof="1" b="1">
                <a:solidFill>
                  <a:srgbClr val="737373"/>
                </a:solidFill>
                <a:latin typeface="微软雅黑"/>
                <a:ea typeface="微软雅黑"/>
              </a:rPr>
              <a:t>Device 侧（AI Core）</a:t>
            </a:r>
            <a:endParaRPr lang="en-US" sz="650" noProof="1"/>
          </a:p>
        </p:txBody>
      </p:sp>
      <p:sp>
        <p:nvSpPr>
          <p:cNvPr id="19" name="kernel-box"/>
          <p:cNvSpPr/>
          <p:nvPr/>
        </p:nvSpPr>
        <p:spPr>
          <a:xfrm>
            <a:off x="1219200" y="4470400"/>
            <a:ext cx="4013200" cy="787400"/>
          </a:xfrm>
          <a:prstGeom prst="roundRect">
            <a:avLst>
              <a:gd name="adj" fmla="val 10000"/>
            </a:avLst>
          </a:prstGeom>
          <a:solidFill>
            <a:srgbClr val="C8DCF4"/>
          </a:solidFill>
          <a:ln w="6350">
            <a:solidFill>
              <a:srgbClr val="1B1B1E"/>
            </a:solidFill>
          </a:ln>
        </p:spPr>
      </p:sp>
      <p:sp>
        <p:nvSpPr>
          <p:cNvPr id="20" name="kernel-box-text"/>
          <p:cNvSpPr txBox="1"/>
          <p:nvPr/>
        </p:nvSpPr>
        <p:spPr>
          <a:xfrm>
            <a:off x="1320800" y="4470400"/>
            <a:ext cx="3810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FA Kernel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404040"/>
                </a:solidFill>
                <a:latin typeface="微软雅黑"/>
                <a:ea typeface="微软雅黑"/>
              </a:rPr>
              <a:t>按 Tiling Key 选定分支、按 Tiling Data 搬运与切块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404040"/>
                </a:solidFill>
                <a:latin typeface="微软雅黑"/>
                <a:ea typeface="微软雅黑"/>
              </a:rPr>
              <a:t>Cube（MM1 / MM2）+ Vector（softmax 等）协同 → 输出结果</a:t>
            </a:r>
            <a:endParaRPr lang="en-US" sz="1600" noProof="1"/>
          </a:p>
        </p:txBody>
      </p:sp>
      <p:sp>
        <p:nvSpPr>
          <p:cNvPr id="21" name="param-label"/>
          <p:cNvSpPr txBox="1"/>
          <p:nvPr/>
        </p:nvSpPr>
        <p:spPr>
          <a:xfrm>
            <a:off x="6197600" y="2286000"/>
            <a:ext cx="4318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Tiling 关键要素</a:t>
            </a:r>
            <a:endParaRPr lang="en-US" sz="1200" noProof="1"/>
          </a:p>
        </p:txBody>
      </p:sp>
      <p:graphicFrame>
        <p:nvGraphicFramePr>
          <p:cNvPr id="22" name="param-table"/>
          <p:cNvGraphicFramePr>
            <a:graphicFrameLocks noGrp="1"/>
          </p:cNvGraphicFramePr>
          <p:nvPr/>
        </p:nvGraphicFramePr>
        <p:xfrm>
          <a:off x="6197600" y="2641600"/>
          <a:ext cx="5537200" cy="2743200"/>
        </p:xfrm>
        <a:graphic>
          <a:graphicData uri="http://schemas.openxmlformats.org/drawingml/2006/table">
            <a:tbl>
              <a:tblPr/>
              <a:tblGrid>
                <a:gridCol w="1107440"/>
                <a:gridCol w="4429760"/>
              </a:tblGrid>
              <a:tr h="30175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要素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85039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六大功能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算子模板选择、多核切分、核间负载均衡、高阶 API 基本块选择、workspace 大小计算、Tiling Key 设置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2120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Tiling Key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kernel 模板 / 分支选择，编译期确定代码路径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2120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Tiling Data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运行时切分参数：核间切分 + 核内切块的具体数值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分核策略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Times New Roman"/>
                          <a:ea typeface="Times New Roman"/>
                        </a:rPr>
                        <a:t>batch × head × seq 维度切到 24 核，负载均衡、避免核空闲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param-note"/>
          <p:cNvSpPr txBox="1"/>
          <p:nvPr/>
        </p:nvSpPr>
        <p:spPr>
          <a:xfrm>
            <a:off x="6197600" y="5461000"/>
            <a:ext cx="5537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注：Tiling 生成的参数经 host 传递至 device，kernel 依此完成数据搬运与计算，最终输出结果。</a:t>
            </a:r>
            <a:endParaRPr lang="en-US" sz="750" noProof="1"/>
          </a:p>
        </p:txBody>
      </p:sp>
      <p:sp>
        <p:nvSpPr>
          <p:cNvPr id="24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Tiling 开发要点与调测衔接</a:t>
            </a:r>
            <a:endParaRPr lang="en-US" sz="1200" noProof="1"/>
          </a:p>
        </p:txBody>
      </p:sp>
      <p:sp>
        <p:nvSpPr>
          <p:cNvPr id="25" name="dev-bullets"/>
          <p:cNvSpPr txBox="1"/>
          <p:nvPr/>
        </p:nvSpPr>
        <p:spPr>
          <a:xfrm>
            <a:off x="558800" y="59182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负载均衡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：把 batch × head × seq 等维度合理切到 24 个核，是 Tiling 设计的核心目标，切分不均直接拉低整体性能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两级切分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：Tiling Data 同时描述核间切分（多核任务划分）与核内切块（受片上 L1 / UB 容量约束）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实施顺序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：先确定分核策略与 Tiling Key 分支，再生成 Tiling Data 并核算 workspace 大小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调测衔接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：Tiling 与 kernel 联调 —— Debug Tools、mskpp 工具，以及 Aclnn Fuzz 测试框架做正确性验证</a:t>
            </a:r>
            <a:endParaRPr lang="en-US" sz="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5</Slides>
</Properties>
</file>

<file path=docProps/core.xml><?xml version="1.0" encoding="utf-8"?>
<cp:coreProperties xmlns:dc="http://purl.org/dc/elements/1.1/" xmlns:cp="http://schemas.openxmlformats.org/package/2006/metadata/core-properties">
  <dc:title>ascendC_operator_intro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